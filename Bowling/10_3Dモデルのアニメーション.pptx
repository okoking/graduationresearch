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74" r:id="rId2"/>
    <p:sldId id="263" r:id="rId3"/>
    <p:sldId id="422" r:id="rId4"/>
    <p:sldId id="463" r:id="rId5"/>
    <p:sldId id="508" r:id="rId6"/>
    <p:sldId id="509" r:id="rId7"/>
    <p:sldId id="510" r:id="rId8"/>
    <p:sldId id="479" r:id="rId9"/>
    <p:sldId id="511" r:id="rId10"/>
    <p:sldId id="512" r:id="rId11"/>
    <p:sldId id="513" r:id="rId12"/>
    <p:sldId id="497" r:id="rId13"/>
    <p:sldId id="514" r:id="rId14"/>
    <p:sldId id="515" r:id="rId15"/>
    <p:sldId id="516" r:id="rId16"/>
    <p:sldId id="472" r:id="rId17"/>
    <p:sldId id="488" r:id="rId18"/>
    <p:sldId id="487" r:id="rId19"/>
    <p:sldId id="517" r:id="rId20"/>
    <p:sldId id="477" r:id="rId21"/>
    <p:sldId id="518" r:id="rId22"/>
    <p:sldId id="498" r:id="rId23"/>
    <p:sldId id="519" r:id="rId24"/>
  </p:sldIdLst>
  <p:sldSz cx="9144000" cy="6858000" type="screen4x3"/>
  <p:notesSz cx="6858000" cy="9144000"/>
  <p:defaultTextStyle>
    <a:defPPr>
      <a:defRPr lang="ja-JP"/>
    </a:defPPr>
    <a:lvl1pPr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umimoji="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0000"/>
    <a:srgbClr val="0000FF"/>
    <a:srgbClr val="FF99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3432" autoAdjust="0"/>
  </p:normalViewPr>
  <p:slideViewPr>
    <p:cSldViewPr>
      <p:cViewPr varScale="1">
        <p:scale>
          <a:sx n="113" d="100"/>
          <a:sy n="113" d="100"/>
        </p:scale>
        <p:origin x="1302"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ea typeface="ＭＳ Ｐゴシック" panose="020B0600070205080204" pitchFamily="50" charset="-128"/>
              </a:defRPr>
            </a:lvl1pPr>
          </a:lstStyle>
          <a:p>
            <a:pPr>
              <a:defRPr/>
            </a:pPr>
            <a:endParaRPr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ＭＳ Ｐゴシック" panose="020B0600070205080204" pitchFamily="50" charset="-128"/>
              </a:defRPr>
            </a:lvl1pPr>
          </a:lstStyle>
          <a:p>
            <a:pPr>
              <a:defRPr/>
            </a:pPr>
            <a:fld id="{CB706637-DCFC-497F-BB89-D8E67B749BBA}" type="datetimeFigureOut">
              <a:rPr lang="ja-JP" altLang="en-US"/>
              <a:pPr>
                <a:defRPr/>
              </a:pPr>
              <a:t>2025/5/13</a:t>
            </a:fld>
            <a:endParaRPr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ja-JP" altLang="en-US" noProof="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ea typeface="ＭＳ Ｐゴシック" panose="020B0600070205080204" pitchFamily="50" charset="-128"/>
              </a:defRPr>
            </a:lvl1pPr>
          </a:lstStyle>
          <a:p>
            <a:pPr>
              <a:defRPr/>
            </a:pPr>
            <a:endParaRPr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ea typeface="ＭＳ Ｐゴシック" panose="020B0600070205080204" pitchFamily="50" charset="-128"/>
              </a:defRPr>
            </a:lvl1pPr>
          </a:lstStyle>
          <a:p>
            <a:pPr>
              <a:defRPr/>
            </a:pPr>
            <a:fld id="{425A6533-C8EA-4CF0-90C3-0DEC9B8D7436}" type="slidenum">
              <a:rPr lang="ja-JP" altLang="en-US"/>
              <a:pPr>
                <a:defRPr/>
              </a:pPr>
              <a:t>‹#›</a:t>
            </a:fld>
            <a:endParaRPr lang="ja-JP" altLang="en-US"/>
          </a:p>
        </p:txBody>
      </p:sp>
    </p:spTree>
    <p:extLst>
      <p:ext uri="{BB962C8B-B14F-4D97-AF65-F5344CB8AC3E}">
        <p14:creationId xmlns:p14="http://schemas.microsoft.com/office/powerpoint/2010/main" val="39501863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2</a:t>
            </a:fld>
            <a:endParaRPr lang="ja-JP" altLang="en-US"/>
          </a:p>
        </p:txBody>
      </p:sp>
    </p:spTree>
    <p:extLst>
      <p:ext uri="{BB962C8B-B14F-4D97-AF65-F5344CB8AC3E}">
        <p14:creationId xmlns:p14="http://schemas.microsoft.com/office/powerpoint/2010/main" val="2113313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3</a:t>
            </a:fld>
            <a:endParaRPr lang="ja-JP" altLang="en-US"/>
          </a:p>
        </p:txBody>
      </p:sp>
    </p:spTree>
    <p:extLst>
      <p:ext uri="{BB962C8B-B14F-4D97-AF65-F5344CB8AC3E}">
        <p14:creationId xmlns:p14="http://schemas.microsoft.com/office/powerpoint/2010/main" val="2123901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4</a:t>
            </a:fld>
            <a:endParaRPr lang="ja-JP" altLang="en-US"/>
          </a:p>
        </p:txBody>
      </p:sp>
    </p:spTree>
    <p:extLst>
      <p:ext uri="{BB962C8B-B14F-4D97-AF65-F5344CB8AC3E}">
        <p14:creationId xmlns:p14="http://schemas.microsoft.com/office/powerpoint/2010/main" val="2719540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5</a:t>
            </a:fld>
            <a:endParaRPr lang="ja-JP" altLang="en-US"/>
          </a:p>
        </p:txBody>
      </p:sp>
    </p:spTree>
    <p:extLst>
      <p:ext uri="{BB962C8B-B14F-4D97-AF65-F5344CB8AC3E}">
        <p14:creationId xmlns:p14="http://schemas.microsoft.com/office/powerpoint/2010/main" val="4215287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6</a:t>
            </a:fld>
            <a:endParaRPr lang="ja-JP" altLang="en-US"/>
          </a:p>
        </p:txBody>
      </p:sp>
    </p:spTree>
    <p:extLst>
      <p:ext uri="{BB962C8B-B14F-4D97-AF65-F5344CB8AC3E}">
        <p14:creationId xmlns:p14="http://schemas.microsoft.com/office/powerpoint/2010/main" val="332161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7</a:t>
            </a:fld>
            <a:endParaRPr lang="ja-JP" altLang="en-US"/>
          </a:p>
        </p:txBody>
      </p:sp>
    </p:spTree>
    <p:extLst>
      <p:ext uri="{BB962C8B-B14F-4D97-AF65-F5344CB8AC3E}">
        <p14:creationId xmlns:p14="http://schemas.microsoft.com/office/powerpoint/2010/main" val="1808059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8</a:t>
            </a:fld>
            <a:endParaRPr lang="ja-JP" altLang="en-US"/>
          </a:p>
        </p:txBody>
      </p:sp>
    </p:spTree>
    <p:extLst>
      <p:ext uri="{BB962C8B-B14F-4D97-AF65-F5344CB8AC3E}">
        <p14:creationId xmlns:p14="http://schemas.microsoft.com/office/powerpoint/2010/main" val="936081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48BDA-5E30-E2AB-E01E-688047E21B11}"/>
            </a:ext>
          </a:extLst>
        </p:cNvPr>
        <p:cNvGrpSpPr/>
        <p:nvPr/>
      </p:nvGrpSpPr>
      <p:grpSpPr>
        <a:xfrm>
          <a:off x="0" y="0"/>
          <a:ext cx="0" cy="0"/>
          <a:chOff x="0" y="0"/>
          <a:chExt cx="0" cy="0"/>
        </a:xfrm>
      </p:grpSpPr>
      <p:sp>
        <p:nvSpPr>
          <p:cNvPr id="5122" name="スライド イメージ プレースホルダー 1">
            <a:extLst>
              <a:ext uri="{FF2B5EF4-FFF2-40B4-BE49-F238E27FC236}">
                <a16:creationId xmlns:a16="http://schemas.microsoft.com/office/drawing/2014/main" id="{FC19970E-F27E-CD82-7419-F1C597477E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a:extLst>
              <a:ext uri="{FF2B5EF4-FFF2-40B4-BE49-F238E27FC236}">
                <a16:creationId xmlns:a16="http://schemas.microsoft.com/office/drawing/2014/main" id="{B43DA9C2-0CBA-D392-9E65-E266AA7817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a:extLst>
              <a:ext uri="{FF2B5EF4-FFF2-40B4-BE49-F238E27FC236}">
                <a16:creationId xmlns:a16="http://schemas.microsoft.com/office/drawing/2014/main" id="{4E80A5AB-9430-4C43-2305-4660207E554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9</a:t>
            </a:fld>
            <a:endParaRPr lang="ja-JP" altLang="en-US"/>
          </a:p>
        </p:txBody>
      </p:sp>
    </p:spTree>
    <p:extLst>
      <p:ext uri="{BB962C8B-B14F-4D97-AF65-F5344CB8AC3E}">
        <p14:creationId xmlns:p14="http://schemas.microsoft.com/office/powerpoint/2010/main" val="2139330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10</a:t>
            </a:fld>
            <a:endParaRPr lang="ja-JP" altLang="en-US"/>
          </a:p>
        </p:txBody>
      </p:sp>
    </p:spTree>
    <p:extLst>
      <p:ext uri="{BB962C8B-B14F-4D97-AF65-F5344CB8AC3E}">
        <p14:creationId xmlns:p14="http://schemas.microsoft.com/office/powerpoint/2010/main" val="35486647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48BDA-5E30-E2AB-E01E-688047E21B11}"/>
            </a:ext>
          </a:extLst>
        </p:cNvPr>
        <p:cNvGrpSpPr/>
        <p:nvPr/>
      </p:nvGrpSpPr>
      <p:grpSpPr>
        <a:xfrm>
          <a:off x="0" y="0"/>
          <a:ext cx="0" cy="0"/>
          <a:chOff x="0" y="0"/>
          <a:chExt cx="0" cy="0"/>
        </a:xfrm>
      </p:grpSpPr>
      <p:sp>
        <p:nvSpPr>
          <p:cNvPr id="5122" name="スライド イメージ プレースホルダー 1">
            <a:extLst>
              <a:ext uri="{FF2B5EF4-FFF2-40B4-BE49-F238E27FC236}">
                <a16:creationId xmlns:a16="http://schemas.microsoft.com/office/drawing/2014/main" id="{FC19970E-F27E-CD82-7419-F1C597477E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a:extLst>
              <a:ext uri="{FF2B5EF4-FFF2-40B4-BE49-F238E27FC236}">
                <a16:creationId xmlns:a16="http://schemas.microsoft.com/office/drawing/2014/main" id="{B43DA9C2-0CBA-D392-9E65-E266AA7817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a:extLst>
              <a:ext uri="{FF2B5EF4-FFF2-40B4-BE49-F238E27FC236}">
                <a16:creationId xmlns:a16="http://schemas.microsoft.com/office/drawing/2014/main" id="{4E80A5AB-9430-4C43-2305-4660207E554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11</a:t>
            </a:fld>
            <a:endParaRPr lang="ja-JP" altLang="en-US"/>
          </a:p>
        </p:txBody>
      </p:sp>
    </p:spTree>
    <p:extLst>
      <p:ext uri="{BB962C8B-B14F-4D97-AF65-F5344CB8AC3E}">
        <p14:creationId xmlns:p14="http://schemas.microsoft.com/office/powerpoint/2010/main" val="2473416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16AF5-12CF-D0D3-E1CF-582110433274}"/>
            </a:ext>
          </a:extLst>
        </p:cNvPr>
        <p:cNvGrpSpPr/>
        <p:nvPr/>
      </p:nvGrpSpPr>
      <p:grpSpPr>
        <a:xfrm>
          <a:off x="0" y="0"/>
          <a:ext cx="0" cy="0"/>
          <a:chOff x="0" y="0"/>
          <a:chExt cx="0" cy="0"/>
        </a:xfrm>
      </p:grpSpPr>
      <p:sp>
        <p:nvSpPr>
          <p:cNvPr id="5122" name="スライド イメージ プレースホルダー 1">
            <a:extLst>
              <a:ext uri="{FF2B5EF4-FFF2-40B4-BE49-F238E27FC236}">
                <a16:creationId xmlns:a16="http://schemas.microsoft.com/office/drawing/2014/main" id="{F4F4FC92-9C04-F64D-4CB5-71BDEC0442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a:extLst>
              <a:ext uri="{FF2B5EF4-FFF2-40B4-BE49-F238E27FC236}">
                <a16:creationId xmlns:a16="http://schemas.microsoft.com/office/drawing/2014/main" id="{658C3B02-BFB4-7667-A27B-0038D2A354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a:extLst>
              <a:ext uri="{FF2B5EF4-FFF2-40B4-BE49-F238E27FC236}">
                <a16:creationId xmlns:a16="http://schemas.microsoft.com/office/drawing/2014/main" id="{650BEF7A-ACE2-1446-F176-9237B347F74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12</a:t>
            </a:fld>
            <a:endParaRPr lang="ja-JP" altLang="en-US"/>
          </a:p>
        </p:txBody>
      </p:sp>
    </p:spTree>
    <p:extLst>
      <p:ext uri="{BB962C8B-B14F-4D97-AF65-F5344CB8AC3E}">
        <p14:creationId xmlns:p14="http://schemas.microsoft.com/office/powerpoint/2010/main" val="1388418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72155-D10B-1456-7D13-31E4E27D8812}"/>
            </a:ext>
          </a:extLst>
        </p:cNvPr>
        <p:cNvGrpSpPr/>
        <p:nvPr/>
      </p:nvGrpSpPr>
      <p:grpSpPr>
        <a:xfrm>
          <a:off x="0" y="0"/>
          <a:ext cx="0" cy="0"/>
          <a:chOff x="0" y="0"/>
          <a:chExt cx="0" cy="0"/>
        </a:xfrm>
      </p:grpSpPr>
      <p:sp>
        <p:nvSpPr>
          <p:cNvPr id="5122" name="スライド イメージ プレースホルダー 1">
            <a:extLst>
              <a:ext uri="{FF2B5EF4-FFF2-40B4-BE49-F238E27FC236}">
                <a16:creationId xmlns:a16="http://schemas.microsoft.com/office/drawing/2014/main" id="{7E9BC790-CA20-CD9E-C3E8-C2E14EACB53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a:extLst>
              <a:ext uri="{FF2B5EF4-FFF2-40B4-BE49-F238E27FC236}">
                <a16:creationId xmlns:a16="http://schemas.microsoft.com/office/drawing/2014/main" id="{DEAD42CC-8961-EB3C-778B-92BCB0DF1C9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a:extLst>
              <a:ext uri="{FF2B5EF4-FFF2-40B4-BE49-F238E27FC236}">
                <a16:creationId xmlns:a16="http://schemas.microsoft.com/office/drawing/2014/main" id="{52867B59-B357-C419-6F4F-908068697D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13</a:t>
            </a:fld>
            <a:endParaRPr lang="ja-JP" altLang="en-US"/>
          </a:p>
        </p:txBody>
      </p:sp>
    </p:spTree>
    <p:extLst>
      <p:ext uri="{BB962C8B-B14F-4D97-AF65-F5344CB8AC3E}">
        <p14:creationId xmlns:p14="http://schemas.microsoft.com/office/powerpoint/2010/main" val="2226793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6B25F-6AE6-9758-F155-45AD882C4D22}"/>
            </a:ext>
          </a:extLst>
        </p:cNvPr>
        <p:cNvGrpSpPr/>
        <p:nvPr/>
      </p:nvGrpSpPr>
      <p:grpSpPr>
        <a:xfrm>
          <a:off x="0" y="0"/>
          <a:ext cx="0" cy="0"/>
          <a:chOff x="0" y="0"/>
          <a:chExt cx="0" cy="0"/>
        </a:xfrm>
      </p:grpSpPr>
      <p:sp>
        <p:nvSpPr>
          <p:cNvPr id="5122" name="スライド イメージ プレースホルダー 1">
            <a:extLst>
              <a:ext uri="{FF2B5EF4-FFF2-40B4-BE49-F238E27FC236}">
                <a16:creationId xmlns:a16="http://schemas.microsoft.com/office/drawing/2014/main" id="{BC9F922D-77F7-9AA6-59C6-67ACD7C51E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a:extLst>
              <a:ext uri="{FF2B5EF4-FFF2-40B4-BE49-F238E27FC236}">
                <a16:creationId xmlns:a16="http://schemas.microsoft.com/office/drawing/2014/main" id="{B5D4AA09-7E7F-14E5-2878-70524E82E94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a:extLst>
              <a:ext uri="{FF2B5EF4-FFF2-40B4-BE49-F238E27FC236}">
                <a16:creationId xmlns:a16="http://schemas.microsoft.com/office/drawing/2014/main" id="{8D1B156A-9EB9-583E-2B35-C2C2548705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14</a:t>
            </a:fld>
            <a:endParaRPr lang="ja-JP" altLang="en-US"/>
          </a:p>
        </p:txBody>
      </p:sp>
    </p:spTree>
    <p:extLst>
      <p:ext uri="{BB962C8B-B14F-4D97-AF65-F5344CB8AC3E}">
        <p14:creationId xmlns:p14="http://schemas.microsoft.com/office/powerpoint/2010/main" val="25576596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16</a:t>
            </a:fld>
            <a:endParaRPr lang="ja-JP" altLang="en-US"/>
          </a:p>
        </p:txBody>
      </p:sp>
    </p:spTree>
    <p:extLst>
      <p:ext uri="{BB962C8B-B14F-4D97-AF65-F5344CB8AC3E}">
        <p14:creationId xmlns:p14="http://schemas.microsoft.com/office/powerpoint/2010/main" val="35953949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17</a:t>
            </a:fld>
            <a:endParaRPr lang="ja-JP" altLang="en-US"/>
          </a:p>
        </p:txBody>
      </p:sp>
    </p:spTree>
    <p:extLst>
      <p:ext uri="{BB962C8B-B14F-4D97-AF65-F5344CB8AC3E}">
        <p14:creationId xmlns:p14="http://schemas.microsoft.com/office/powerpoint/2010/main" val="2785066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18</a:t>
            </a:fld>
            <a:endParaRPr lang="ja-JP" altLang="en-US"/>
          </a:p>
        </p:txBody>
      </p:sp>
    </p:spTree>
    <p:extLst>
      <p:ext uri="{BB962C8B-B14F-4D97-AF65-F5344CB8AC3E}">
        <p14:creationId xmlns:p14="http://schemas.microsoft.com/office/powerpoint/2010/main" val="3543208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19</a:t>
            </a:fld>
            <a:endParaRPr lang="ja-JP" altLang="en-US"/>
          </a:p>
        </p:txBody>
      </p:sp>
    </p:spTree>
    <p:extLst>
      <p:ext uri="{BB962C8B-B14F-4D97-AF65-F5344CB8AC3E}">
        <p14:creationId xmlns:p14="http://schemas.microsoft.com/office/powerpoint/2010/main" val="32539553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DEE1E-44AE-CFA4-EB23-04328E2D33BF}"/>
            </a:ext>
          </a:extLst>
        </p:cNvPr>
        <p:cNvGrpSpPr/>
        <p:nvPr/>
      </p:nvGrpSpPr>
      <p:grpSpPr>
        <a:xfrm>
          <a:off x="0" y="0"/>
          <a:ext cx="0" cy="0"/>
          <a:chOff x="0" y="0"/>
          <a:chExt cx="0" cy="0"/>
        </a:xfrm>
      </p:grpSpPr>
      <p:sp>
        <p:nvSpPr>
          <p:cNvPr id="5122" name="スライド イメージ プレースホルダー 1">
            <a:extLst>
              <a:ext uri="{FF2B5EF4-FFF2-40B4-BE49-F238E27FC236}">
                <a16:creationId xmlns:a16="http://schemas.microsoft.com/office/drawing/2014/main" id="{8EF24BA4-EA57-3B0B-338E-977494E2D9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a:extLst>
              <a:ext uri="{FF2B5EF4-FFF2-40B4-BE49-F238E27FC236}">
                <a16:creationId xmlns:a16="http://schemas.microsoft.com/office/drawing/2014/main" id="{BC226647-D244-DC60-D90F-50D951E904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a:extLst>
              <a:ext uri="{FF2B5EF4-FFF2-40B4-BE49-F238E27FC236}">
                <a16:creationId xmlns:a16="http://schemas.microsoft.com/office/drawing/2014/main" id="{CDFFB7D6-A008-6680-BBF8-BE3233051C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22</a:t>
            </a:fld>
            <a:endParaRPr lang="ja-JP" altLang="en-US"/>
          </a:p>
        </p:txBody>
      </p:sp>
    </p:spTree>
    <p:extLst>
      <p:ext uri="{BB962C8B-B14F-4D97-AF65-F5344CB8AC3E}">
        <p14:creationId xmlns:p14="http://schemas.microsoft.com/office/powerpoint/2010/main" val="19219293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DEE1E-44AE-CFA4-EB23-04328E2D33BF}"/>
            </a:ext>
          </a:extLst>
        </p:cNvPr>
        <p:cNvGrpSpPr/>
        <p:nvPr/>
      </p:nvGrpSpPr>
      <p:grpSpPr>
        <a:xfrm>
          <a:off x="0" y="0"/>
          <a:ext cx="0" cy="0"/>
          <a:chOff x="0" y="0"/>
          <a:chExt cx="0" cy="0"/>
        </a:xfrm>
      </p:grpSpPr>
      <p:sp>
        <p:nvSpPr>
          <p:cNvPr id="5122" name="スライド イメージ プレースホルダー 1">
            <a:extLst>
              <a:ext uri="{FF2B5EF4-FFF2-40B4-BE49-F238E27FC236}">
                <a16:creationId xmlns:a16="http://schemas.microsoft.com/office/drawing/2014/main" id="{8EF24BA4-EA57-3B0B-338E-977494E2D9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ノート プレースホルダー 2">
            <a:extLst>
              <a:ext uri="{FF2B5EF4-FFF2-40B4-BE49-F238E27FC236}">
                <a16:creationId xmlns:a16="http://schemas.microsoft.com/office/drawing/2014/main" id="{BC226647-D244-DC60-D90F-50D951E904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ja-JP" altLang="en-US"/>
          </a:p>
        </p:txBody>
      </p:sp>
      <p:sp>
        <p:nvSpPr>
          <p:cNvPr id="5124" name="スライド番号プレースホルダー 3">
            <a:extLst>
              <a:ext uri="{FF2B5EF4-FFF2-40B4-BE49-F238E27FC236}">
                <a16:creationId xmlns:a16="http://schemas.microsoft.com/office/drawing/2014/main" id="{CDFFB7D6-A008-6680-BBF8-BE3233051C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ＭＳ Ｐゴシック" panose="020B0600070205080204" pitchFamily="34" charset="-128"/>
              </a:defRPr>
            </a:lvl1pPr>
            <a:lvl2pPr marL="742950" indent="-285750">
              <a:defRPr kumimoji="1">
                <a:solidFill>
                  <a:schemeClr val="tx1"/>
                </a:solidFill>
                <a:latin typeface="Arial" panose="020B0604020202020204" pitchFamily="34" charset="0"/>
                <a:ea typeface="ＭＳ Ｐゴシック" panose="020B0600070205080204" pitchFamily="34" charset="-128"/>
              </a:defRPr>
            </a:lvl2pPr>
            <a:lvl3pPr marL="1143000" indent="-228600">
              <a:defRPr kumimoji="1">
                <a:solidFill>
                  <a:schemeClr val="tx1"/>
                </a:solidFill>
                <a:latin typeface="Arial" panose="020B0604020202020204" pitchFamily="34" charset="0"/>
                <a:ea typeface="ＭＳ Ｐゴシック" panose="020B0600070205080204" pitchFamily="34" charset="-128"/>
              </a:defRPr>
            </a:lvl3pPr>
            <a:lvl4pPr marL="1600200" indent="-228600">
              <a:defRPr kumimoji="1">
                <a:solidFill>
                  <a:schemeClr val="tx1"/>
                </a:solidFill>
                <a:latin typeface="Arial" panose="020B0604020202020204" pitchFamily="34" charset="0"/>
                <a:ea typeface="ＭＳ Ｐゴシック" panose="020B0600070205080204" pitchFamily="34" charset="-128"/>
              </a:defRPr>
            </a:lvl4pPr>
            <a:lvl5pPr marL="2057400" indent="-228600">
              <a:defRPr kumimoji="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34" charset="-128"/>
              </a:defRPr>
            </a:lvl9pPr>
          </a:lstStyle>
          <a:p>
            <a:fld id="{2FC77FAE-C71E-4216-8936-4CC002CB1ACE}" type="slidenum">
              <a:rPr lang="ja-JP" altLang="en-US" smtClean="0"/>
              <a:pPr/>
              <a:t>23</a:t>
            </a:fld>
            <a:endParaRPr lang="ja-JP" altLang="en-US"/>
          </a:p>
        </p:txBody>
      </p:sp>
    </p:spTree>
    <p:extLst>
      <p:ext uri="{BB962C8B-B14F-4D97-AF65-F5344CB8AC3E}">
        <p14:creationId xmlns:p14="http://schemas.microsoft.com/office/powerpoint/2010/main" val="1476052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26293366-EE10-4D47-A1E9-EE7FBEB2A925}" type="slidenum">
              <a:rPr lang="en-US" altLang="ja-JP"/>
              <a:pPr>
                <a:defRPr/>
              </a:pPr>
              <a:t>‹#›</a:t>
            </a:fld>
            <a:endParaRPr lang="en-US" altLang="ja-JP"/>
          </a:p>
        </p:txBody>
      </p:sp>
    </p:spTree>
    <p:extLst>
      <p:ext uri="{BB962C8B-B14F-4D97-AF65-F5344CB8AC3E}">
        <p14:creationId xmlns:p14="http://schemas.microsoft.com/office/powerpoint/2010/main" val="3867236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582DDD20-FFA7-4C36-A680-1856AB2F305F}" type="slidenum">
              <a:rPr lang="en-US" altLang="ja-JP"/>
              <a:pPr>
                <a:defRPr/>
              </a:pPr>
              <a:t>‹#›</a:t>
            </a:fld>
            <a:endParaRPr lang="en-US" altLang="ja-JP"/>
          </a:p>
        </p:txBody>
      </p:sp>
    </p:spTree>
    <p:extLst>
      <p:ext uri="{BB962C8B-B14F-4D97-AF65-F5344CB8AC3E}">
        <p14:creationId xmlns:p14="http://schemas.microsoft.com/office/powerpoint/2010/main" val="386717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A2A64983-2EE2-43D2-918C-A92BCA27C100}" type="slidenum">
              <a:rPr lang="en-US" altLang="ja-JP"/>
              <a:pPr>
                <a:defRPr/>
              </a:pPr>
              <a:t>‹#›</a:t>
            </a:fld>
            <a:endParaRPr lang="en-US" altLang="ja-JP"/>
          </a:p>
        </p:txBody>
      </p:sp>
    </p:spTree>
    <p:extLst>
      <p:ext uri="{BB962C8B-B14F-4D97-AF65-F5344CB8AC3E}">
        <p14:creationId xmlns:p14="http://schemas.microsoft.com/office/powerpoint/2010/main" val="1563049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F8E56793-D6FA-4D1D-B17A-AC8C5E89C81F}" type="slidenum">
              <a:rPr lang="en-US" altLang="ja-JP"/>
              <a:pPr>
                <a:defRPr/>
              </a:pPr>
              <a:t>‹#›</a:t>
            </a:fld>
            <a:endParaRPr lang="en-US" altLang="ja-JP"/>
          </a:p>
        </p:txBody>
      </p:sp>
    </p:spTree>
    <p:extLst>
      <p:ext uri="{BB962C8B-B14F-4D97-AF65-F5344CB8AC3E}">
        <p14:creationId xmlns:p14="http://schemas.microsoft.com/office/powerpoint/2010/main" val="1189128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p:cNvSpPr>
            <a:spLocks noGrp="1" noChangeArrowheads="1"/>
          </p:cNvSpPr>
          <p:nvPr>
            <p:ph type="sldNum" sz="quarter" idx="12"/>
          </p:nvPr>
        </p:nvSpPr>
        <p:spPr>
          <a:ln/>
        </p:spPr>
        <p:txBody>
          <a:bodyPr/>
          <a:lstStyle>
            <a:lvl1pPr>
              <a:defRPr/>
            </a:lvl1pPr>
          </a:lstStyle>
          <a:p>
            <a:pPr>
              <a:defRPr/>
            </a:pPr>
            <a:fld id="{45CED31D-AA26-4451-A054-CD1C26592430}" type="slidenum">
              <a:rPr lang="en-US" altLang="ja-JP"/>
              <a:pPr>
                <a:defRPr/>
              </a:pPr>
              <a:t>‹#›</a:t>
            </a:fld>
            <a:endParaRPr lang="en-US" altLang="ja-JP"/>
          </a:p>
        </p:txBody>
      </p:sp>
    </p:spTree>
    <p:extLst>
      <p:ext uri="{BB962C8B-B14F-4D97-AF65-F5344CB8AC3E}">
        <p14:creationId xmlns:p14="http://schemas.microsoft.com/office/powerpoint/2010/main" val="936483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p:cNvSpPr>
            <a:spLocks noGrp="1" noChangeArrowheads="1"/>
          </p:cNvSpPr>
          <p:nvPr>
            <p:ph type="sldNum" sz="quarter" idx="12"/>
          </p:nvPr>
        </p:nvSpPr>
        <p:spPr>
          <a:ln/>
        </p:spPr>
        <p:txBody>
          <a:bodyPr/>
          <a:lstStyle>
            <a:lvl1pPr>
              <a:defRPr/>
            </a:lvl1pPr>
          </a:lstStyle>
          <a:p>
            <a:pPr>
              <a:defRPr/>
            </a:pPr>
            <a:fld id="{60909F5B-575D-49F1-AA0D-40166D43521C}" type="slidenum">
              <a:rPr lang="en-US" altLang="ja-JP"/>
              <a:pPr>
                <a:defRPr/>
              </a:pPr>
              <a:t>‹#›</a:t>
            </a:fld>
            <a:endParaRPr lang="en-US" altLang="ja-JP"/>
          </a:p>
        </p:txBody>
      </p:sp>
    </p:spTree>
    <p:extLst>
      <p:ext uri="{BB962C8B-B14F-4D97-AF65-F5344CB8AC3E}">
        <p14:creationId xmlns:p14="http://schemas.microsoft.com/office/powerpoint/2010/main" val="2548684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p:cNvSpPr>
            <a:spLocks noGrp="1" noChangeArrowheads="1"/>
          </p:cNvSpPr>
          <p:nvPr>
            <p:ph type="sldNum" sz="quarter" idx="12"/>
          </p:nvPr>
        </p:nvSpPr>
        <p:spPr>
          <a:ln/>
        </p:spPr>
        <p:txBody>
          <a:bodyPr/>
          <a:lstStyle>
            <a:lvl1pPr>
              <a:defRPr/>
            </a:lvl1pPr>
          </a:lstStyle>
          <a:p>
            <a:pPr>
              <a:defRPr/>
            </a:pPr>
            <a:fld id="{9394E60D-59DB-4E98-9EA3-CD1925070F1B}" type="slidenum">
              <a:rPr lang="en-US" altLang="ja-JP"/>
              <a:pPr>
                <a:defRPr/>
              </a:pPr>
              <a:t>‹#›</a:t>
            </a:fld>
            <a:endParaRPr lang="en-US" altLang="ja-JP"/>
          </a:p>
        </p:txBody>
      </p:sp>
    </p:spTree>
    <p:extLst>
      <p:ext uri="{BB962C8B-B14F-4D97-AF65-F5344CB8AC3E}">
        <p14:creationId xmlns:p14="http://schemas.microsoft.com/office/powerpoint/2010/main" val="3750365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47BBA516-D543-47CA-8B43-B116480E1959}" type="slidenum">
              <a:rPr lang="en-US" altLang="ja-JP"/>
              <a:pPr>
                <a:defRPr/>
              </a:pPr>
              <a:t>‹#›</a:t>
            </a:fld>
            <a:endParaRPr lang="en-US" altLang="ja-JP"/>
          </a:p>
        </p:txBody>
      </p:sp>
    </p:spTree>
    <p:extLst>
      <p:ext uri="{BB962C8B-B14F-4D97-AF65-F5344CB8AC3E}">
        <p14:creationId xmlns:p14="http://schemas.microsoft.com/office/powerpoint/2010/main" val="232616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E3337459-33D6-4C7D-B668-68D8A138A189}" type="slidenum">
              <a:rPr lang="en-US" altLang="ja-JP"/>
              <a:pPr>
                <a:defRPr/>
              </a:pPr>
              <a:t>‹#›</a:t>
            </a:fld>
            <a:endParaRPr lang="en-US" altLang="ja-JP"/>
          </a:p>
        </p:txBody>
      </p:sp>
    </p:spTree>
    <p:extLst>
      <p:ext uri="{BB962C8B-B14F-4D97-AF65-F5344CB8AC3E}">
        <p14:creationId xmlns:p14="http://schemas.microsoft.com/office/powerpoint/2010/main" val="3454718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BD924D0B-E5D1-406F-982B-7B2FFAB4731E}" type="slidenum">
              <a:rPr lang="en-US" altLang="ja-JP"/>
              <a:pPr>
                <a:defRPr/>
              </a:pPr>
              <a:t>‹#›</a:t>
            </a:fld>
            <a:endParaRPr lang="en-US" altLang="ja-JP"/>
          </a:p>
        </p:txBody>
      </p:sp>
    </p:spTree>
    <p:extLst>
      <p:ext uri="{BB962C8B-B14F-4D97-AF65-F5344CB8AC3E}">
        <p14:creationId xmlns:p14="http://schemas.microsoft.com/office/powerpoint/2010/main" val="1215101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B31D8DA2-3599-48AE-AF70-778523510A40}" type="slidenum">
              <a:rPr lang="en-US" altLang="ja-JP"/>
              <a:pPr>
                <a:defRPr/>
              </a:pPr>
              <a:t>‹#›</a:t>
            </a:fld>
            <a:endParaRPr lang="en-US" altLang="ja-JP"/>
          </a:p>
        </p:txBody>
      </p:sp>
    </p:spTree>
    <p:extLst>
      <p:ext uri="{BB962C8B-B14F-4D97-AF65-F5344CB8AC3E}">
        <p14:creationId xmlns:p14="http://schemas.microsoft.com/office/powerpoint/2010/main" val="990963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128"/>
              </a:defRPr>
            </a:lvl1pPr>
          </a:lstStyle>
          <a:p>
            <a:pPr>
              <a:defRPr/>
            </a:pPr>
            <a:endParaRPr lang="en-US" altLang="ja-JP"/>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128"/>
              </a:defRPr>
            </a:lvl1pPr>
          </a:lstStyle>
          <a:p>
            <a:pPr>
              <a:defRPr/>
            </a:pPr>
            <a:endParaRPr lang="en-US" altLang="ja-JP"/>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ea typeface="ＭＳ Ｐゴシック" panose="020B0600070205080204" pitchFamily="50" charset="-128"/>
              </a:defRPr>
            </a:lvl1pPr>
          </a:lstStyle>
          <a:p>
            <a:pPr>
              <a:defRPr/>
            </a:pPr>
            <a:fld id="{6A49AFD3-AA32-4D40-AC69-503CCE1DD89F}"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charset="-128"/>
        </a:defRPr>
      </a:lvl2pPr>
      <a:lvl3pPr algn="ctr" rtl="0" eaLnBrk="0" fontAlgn="base" hangingPunct="0">
        <a:spcBef>
          <a:spcPct val="0"/>
        </a:spcBef>
        <a:spcAft>
          <a:spcPct val="0"/>
        </a:spcAft>
        <a:defRPr kumimoji="1" sz="4400">
          <a:solidFill>
            <a:schemeClr val="tx2"/>
          </a:solidFill>
          <a:latin typeface="Arial" charset="0"/>
          <a:ea typeface="ＭＳ Ｐゴシック" charset="-128"/>
        </a:defRPr>
      </a:lvl3pPr>
      <a:lvl4pPr algn="ctr" rtl="0" eaLnBrk="0" fontAlgn="base" hangingPunct="0">
        <a:spcBef>
          <a:spcPct val="0"/>
        </a:spcBef>
        <a:spcAft>
          <a:spcPct val="0"/>
        </a:spcAft>
        <a:defRPr kumimoji="1" sz="4400">
          <a:solidFill>
            <a:schemeClr val="tx2"/>
          </a:solidFill>
          <a:latin typeface="Arial" charset="0"/>
          <a:ea typeface="ＭＳ Ｐゴシック" charset="-128"/>
        </a:defRPr>
      </a:lvl4pPr>
      <a:lvl5pPr algn="ctr" rtl="0" eaLnBrk="0" fontAlgn="base" hangingPunct="0">
        <a:spcBef>
          <a:spcPct val="0"/>
        </a:spcBef>
        <a:spcAft>
          <a:spcPct val="0"/>
        </a:spcAft>
        <a:defRPr kumimoji="1" sz="4400">
          <a:solidFill>
            <a:schemeClr val="tx2"/>
          </a:solidFill>
          <a:latin typeface="Arial" charset="0"/>
          <a:ea typeface="ＭＳ Ｐゴシック" charset="-128"/>
        </a:defRPr>
      </a:lvl5pPr>
      <a:lvl6pPr marL="457200" algn="ctr" rtl="0" fontAlgn="base">
        <a:spcBef>
          <a:spcPct val="0"/>
        </a:spcBef>
        <a:spcAft>
          <a:spcPct val="0"/>
        </a:spcAft>
        <a:defRPr kumimoji="1" sz="4400">
          <a:solidFill>
            <a:schemeClr val="tx2"/>
          </a:solidFill>
          <a:latin typeface="Arial" charset="0"/>
          <a:ea typeface="ＭＳ Ｐゴシック" charset="-128"/>
        </a:defRPr>
      </a:lvl6pPr>
      <a:lvl7pPr marL="914400" algn="ctr" rtl="0" fontAlgn="base">
        <a:spcBef>
          <a:spcPct val="0"/>
        </a:spcBef>
        <a:spcAft>
          <a:spcPct val="0"/>
        </a:spcAft>
        <a:defRPr kumimoji="1" sz="4400">
          <a:solidFill>
            <a:schemeClr val="tx2"/>
          </a:solidFill>
          <a:latin typeface="Arial" charset="0"/>
          <a:ea typeface="ＭＳ Ｐゴシック" charset="-128"/>
        </a:defRPr>
      </a:lvl7pPr>
      <a:lvl8pPr marL="1371600" algn="ctr" rtl="0" fontAlgn="base">
        <a:spcBef>
          <a:spcPct val="0"/>
        </a:spcBef>
        <a:spcAft>
          <a:spcPct val="0"/>
        </a:spcAft>
        <a:defRPr kumimoji="1" sz="4400">
          <a:solidFill>
            <a:schemeClr val="tx2"/>
          </a:solidFill>
          <a:latin typeface="Arial" charset="0"/>
          <a:ea typeface="ＭＳ Ｐゴシック" charset="-128"/>
        </a:defRPr>
      </a:lvl8pPr>
      <a:lvl9pPr marL="1828800" algn="ctr" rtl="0" fontAlgn="base">
        <a:spcBef>
          <a:spcPct val="0"/>
        </a:spcBef>
        <a:spcAft>
          <a:spcPct val="0"/>
        </a:spcAft>
        <a:defRPr kumimoji="1" sz="4400">
          <a:solidFill>
            <a:schemeClr val="tx2"/>
          </a:solidFill>
          <a:latin typeface="Arial" charset="0"/>
          <a:ea typeface="ＭＳ Ｐゴシック"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11188" y="468313"/>
            <a:ext cx="7772400" cy="865187"/>
          </a:xfrm>
        </p:spPr>
        <p:txBody>
          <a:bodyPr/>
          <a:lstStyle/>
          <a:p>
            <a:pPr eaLnBrk="1" hangingPunct="1"/>
            <a:r>
              <a:rPr lang="ja-JP" altLang="en-US" sz="6000" b="1">
                <a:solidFill>
                  <a:srgbClr val="FF0000"/>
                </a:solidFill>
              </a:rPr>
              <a:t>この単元の目標</a:t>
            </a:r>
          </a:p>
        </p:txBody>
      </p:sp>
      <p:pic>
        <p:nvPicPr>
          <p:cNvPr id="3075" name="図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388" y="4437063"/>
            <a:ext cx="3209925" cy="227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図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35663" y="4437063"/>
            <a:ext cx="3208337" cy="227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txBox="1">
            <a:spLocks noChangeArrowheads="1"/>
          </p:cNvSpPr>
          <p:nvPr/>
        </p:nvSpPr>
        <p:spPr bwMode="auto">
          <a:xfrm>
            <a:off x="775556" y="1484784"/>
            <a:ext cx="7772400" cy="2952328"/>
          </a:xfrm>
          <a:prstGeom prst="rect">
            <a:avLst/>
          </a:prstGeom>
          <a:ln/>
        </p:spPr>
        <p:style>
          <a:lnRef idx="2">
            <a:schemeClr val="accent6"/>
          </a:lnRef>
          <a:fillRef idx="1">
            <a:schemeClr val="lt1"/>
          </a:fillRef>
          <a:effectRef idx="0">
            <a:schemeClr val="accent6"/>
          </a:effectRef>
          <a:fontRef idx="minor">
            <a:schemeClr val="dk1"/>
          </a:fontRef>
        </p:style>
        <p:txBody>
          <a:bodyPr anchor="ct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charset="-128"/>
              </a:defRPr>
            </a:lvl2pPr>
            <a:lvl3pPr algn="ctr" rtl="0" eaLnBrk="0" fontAlgn="base" hangingPunct="0">
              <a:spcBef>
                <a:spcPct val="0"/>
              </a:spcBef>
              <a:spcAft>
                <a:spcPct val="0"/>
              </a:spcAft>
              <a:defRPr kumimoji="1" sz="4400">
                <a:solidFill>
                  <a:schemeClr val="tx2"/>
                </a:solidFill>
                <a:latin typeface="Arial" charset="0"/>
                <a:ea typeface="ＭＳ Ｐゴシック" charset="-128"/>
              </a:defRPr>
            </a:lvl3pPr>
            <a:lvl4pPr algn="ctr" rtl="0" eaLnBrk="0" fontAlgn="base" hangingPunct="0">
              <a:spcBef>
                <a:spcPct val="0"/>
              </a:spcBef>
              <a:spcAft>
                <a:spcPct val="0"/>
              </a:spcAft>
              <a:defRPr kumimoji="1" sz="4400">
                <a:solidFill>
                  <a:schemeClr val="tx2"/>
                </a:solidFill>
                <a:latin typeface="Arial" charset="0"/>
                <a:ea typeface="ＭＳ Ｐゴシック" charset="-128"/>
              </a:defRPr>
            </a:lvl4pPr>
            <a:lvl5pPr algn="ctr" rtl="0" eaLnBrk="0" fontAlgn="base" hangingPunct="0">
              <a:spcBef>
                <a:spcPct val="0"/>
              </a:spcBef>
              <a:spcAft>
                <a:spcPct val="0"/>
              </a:spcAft>
              <a:defRPr kumimoji="1" sz="4400">
                <a:solidFill>
                  <a:schemeClr val="tx2"/>
                </a:solidFill>
                <a:latin typeface="Arial" charset="0"/>
                <a:ea typeface="ＭＳ Ｐゴシック" charset="-128"/>
              </a:defRPr>
            </a:lvl5pPr>
            <a:lvl6pPr marL="457200" algn="ctr" rtl="0" fontAlgn="base">
              <a:spcBef>
                <a:spcPct val="0"/>
              </a:spcBef>
              <a:spcAft>
                <a:spcPct val="0"/>
              </a:spcAft>
              <a:defRPr kumimoji="1" sz="4400">
                <a:solidFill>
                  <a:schemeClr val="tx2"/>
                </a:solidFill>
                <a:latin typeface="Arial" charset="0"/>
                <a:ea typeface="ＭＳ Ｐゴシック" charset="-128"/>
              </a:defRPr>
            </a:lvl6pPr>
            <a:lvl7pPr marL="914400" algn="ctr" rtl="0" fontAlgn="base">
              <a:spcBef>
                <a:spcPct val="0"/>
              </a:spcBef>
              <a:spcAft>
                <a:spcPct val="0"/>
              </a:spcAft>
              <a:defRPr kumimoji="1" sz="4400">
                <a:solidFill>
                  <a:schemeClr val="tx2"/>
                </a:solidFill>
                <a:latin typeface="Arial" charset="0"/>
                <a:ea typeface="ＭＳ Ｐゴシック" charset="-128"/>
              </a:defRPr>
            </a:lvl7pPr>
            <a:lvl8pPr marL="1371600" algn="ctr" rtl="0" fontAlgn="base">
              <a:spcBef>
                <a:spcPct val="0"/>
              </a:spcBef>
              <a:spcAft>
                <a:spcPct val="0"/>
              </a:spcAft>
              <a:defRPr kumimoji="1" sz="4400">
                <a:solidFill>
                  <a:schemeClr val="tx2"/>
                </a:solidFill>
                <a:latin typeface="Arial" charset="0"/>
                <a:ea typeface="ＭＳ Ｐゴシック" charset="-128"/>
              </a:defRPr>
            </a:lvl8pPr>
            <a:lvl9pPr marL="1828800" algn="ctr" rtl="0" fontAlgn="base">
              <a:spcBef>
                <a:spcPct val="0"/>
              </a:spcBef>
              <a:spcAft>
                <a:spcPct val="0"/>
              </a:spcAft>
              <a:defRPr kumimoji="1" sz="4400">
                <a:solidFill>
                  <a:schemeClr val="tx2"/>
                </a:solidFill>
                <a:latin typeface="Arial" charset="0"/>
                <a:ea typeface="ＭＳ Ｐゴシック" charset="-128"/>
              </a:defRPr>
            </a:lvl9pPr>
          </a:lstStyle>
          <a:p>
            <a:pPr eaLnBrk="1" hangingPunct="1">
              <a:defRPr/>
            </a:pPr>
            <a:r>
              <a:rPr lang="en-US" altLang="ja-JP" sz="4800" b="1" kern="0" dirty="0" smtClean="0">
                <a:ln w="22225">
                  <a:solidFill>
                    <a:schemeClr val="accent2"/>
                  </a:solidFill>
                  <a:prstDash val="solid"/>
                </a:ln>
                <a:solidFill>
                  <a:schemeClr val="accent2">
                    <a:lumMod val="40000"/>
                    <a:lumOff val="60000"/>
                  </a:schemeClr>
                </a:solidFill>
              </a:rPr>
              <a:t>Unity</a:t>
            </a:r>
            <a:r>
              <a:rPr lang="ja-JP" altLang="en-US" sz="4800" b="1" kern="0" dirty="0" err="1" smtClean="0">
                <a:ln w="22225">
                  <a:solidFill>
                    <a:schemeClr val="accent2"/>
                  </a:solidFill>
                  <a:prstDash val="solid"/>
                </a:ln>
                <a:solidFill>
                  <a:schemeClr val="accent2">
                    <a:lumMod val="40000"/>
                    <a:lumOff val="60000"/>
                  </a:schemeClr>
                </a:solidFill>
              </a:rPr>
              <a:t>ちゃんの</a:t>
            </a:r>
            <a:r>
              <a:rPr lang="ja-JP" altLang="en-US" sz="4800" b="1" kern="0" dirty="0" smtClean="0">
                <a:ln w="22225">
                  <a:solidFill>
                    <a:schemeClr val="accent2"/>
                  </a:solidFill>
                  <a:prstDash val="solid"/>
                </a:ln>
                <a:solidFill>
                  <a:schemeClr val="accent2">
                    <a:lumMod val="40000"/>
                    <a:lumOff val="60000"/>
                  </a:schemeClr>
                </a:solidFill>
              </a:rPr>
              <a:t>アニメーション</a:t>
            </a:r>
            <a:r>
              <a:rPr lang="en-US" altLang="ja-JP" sz="4800" b="1" kern="0" dirty="0" smtClean="0">
                <a:ln w="22225">
                  <a:solidFill>
                    <a:schemeClr val="accent2"/>
                  </a:solidFill>
                  <a:prstDash val="solid"/>
                </a:ln>
                <a:solidFill>
                  <a:schemeClr val="accent2">
                    <a:lumMod val="40000"/>
                    <a:lumOff val="60000"/>
                  </a:schemeClr>
                </a:solidFill>
              </a:rPr>
              <a:t/>
            </a:r>
            <a:br>
              <a:rPr lang="en-US" altLang="ja-JP" sz="4800" b="1" kern="0" dirty="0" smtClean="0">
                <a:ln w="22225">
                  <a:solidFill>
                    <a:schemeClr val="accent2"/>
                  </a:solidFill>
                  <a:prstDash val="solid"/>
                </a:ln>
                <a:solidFill>
                  <a:schemeClr val="accent2">
                    <a:lumMod val="40000"/>
                    <a:lumOff val="60000"/>
                  </a:schemeClr>
                </a:solidFill>
              </a:rPr>
            </a:br>
            <a:r>
              <a:rPr lang="ja-JP" altLang="en-US" sz="4800" b="1" kern="0" dirty="0" smtClean="0">
                <a:ln w="22225">
                  <a:solidFill>
                    <a:schemeClr val="accent2"/>
                  </a:solidFill>
                  <a:prstDash val="solid"/>
                </a:ln>
                <a:solidFill>
                  <a:schemeClr val="accent2">
                    <a:lumMod val="40000"/>
                    <a:lumOff val="60000"/>
                  </a:schemeClr>
                </a:solidFill>
              </a:rPr>
              <a:t>状態遷移を作成できる</a:t>
            </a:r>
            <a:endParaRPr lang="en-US" altLang="ja-JP" sz="4800" b="1" kern="0" dirty="0">
              <a:ln w="22225">
                <a:solidFill>
                  <a:schemeClr val="accent2"/>
                </a:solidFill>
                <a:prstDash val="solid"/>
              </a:ln>
              <a:solidFill>
                <a:schemeClr val="accent2">
                  <a:lumMod val="40000"/>
                  <a:lumOff val="60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ctrTitle"/>
          </p:nvPr>
        </p:nvSpPr>
        <p:spPr>
          <a:xfrm>
            <a:off x="611188" y="468313"/>
            <a:ext cx="7772400" cy="865187"/>
          </a:xfrm>
        </p:spPr>
        <p:txBody>
          <a:bodyPr/>
          <a:lstStyle/>
          <a:p>
            <a:pPr eaLnBrk="1" hangingPunct="1"/>
            <a:r>
              <a:rPr lang="en-US" altLang="ja-JP" sz="4000" dirty="0" smtClean="0"/>
              <a:t>10</a:t>
            </a:r>
            <a:r>
              <a:rPr lang="ja-JP" altLang="en-US" sz="4000" dirty="0"/>
              <a:t>　</a:t>
            </a:r>
            <a:r>
              <a:rPr lang="en-US" altLang="ja-JP" sz="4000" dirty="0" smtClean="0"/>
              <a:t>3D</a:t>
            </a:r>
            <a:r>
              <a:rPr lang="ja-JP" altLang="en-US" sz="4000" dirty="0" smtClean="0"/>
              <a:t>モデルのアニメーション</a:t>
            </a:r>
            <a:endParaRPr lang="ja-JP" altLang="en-US" sz="4000" dirty="0"/>
          </a:p>
        </p:txBody>
      </p:sp>
      <p:sp>
        <p:nvSpPr>
          <p:cNvPr id="21" name="Text Box 3"/>
          <p:cNvSpPr txBox="1">
            <a:spLocks noChangeArrowheads="1"/>
          </p:cNvSpPr>
          <p:nvPr/>
        </p:nvSpPr>
        <p:spPr bwMode="auto">
          <a:xfrm>
            <a:off x="322833" y="1550690"/>
            <a:ext cx="6913563"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buFontTx/>
              <a:buNone/>
              <a:defRPr/>
            </a:pPr>
            <a:r>
              <a:rPr lang="en-US" altLang="ja-JP" sz="2250" b="1" dirty="0" smtClean="0"/>
              <a:t>[Unity</a:t>
            </a:r>
            <a:r>
              <a:rPr lang="ja-JP" altLang="en-US" sz="2250" b="1" dirty="0" err="1" smtClean="0"/>
              <a:t>ちゃんの</a:t>
            </a:r>
            <a:r>
              <a:rPr lang="ja-JP" altLang="en-US" sz="2250" b="1" dirty="0" smtClean="0"/>
              <a:t>取り込み</a:t>
            </a:r>
            <a:r>
              <a:rPr lang="en-US" altLang="ja-JP" sz="2250" b="1" dirty="0" smtClean="0"/>
              <a:t>]</a:t>
            </a:r>
            <a:endParaRPr lang="ja-JP" altLang="en-US" sz="2250" b="1" dirty="0"/>
          </a:p>
        </p:txBody>
      </p:sp>
      <p:sp>
        <p:nvSpPr>
          <p:cNvPr id="22" name="Text Box 5"/>
          <p:cNvSpPr txBox="1">
            <a:spLocks noChangeArrowheads="1"/>
          </p:cNvSpPr>
          <p:nvPr/>
        </p:nvSpPr>
        <p:spPr bwMode="auto">
          <a:xfrm>
            <a:off x="136307" y="2365312"/>
            <a:ext cx="8871386" cy="1135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0" b="1" dirty="0" smtClean="0"/>
              <a:t>アセットをゲーム内に取り込む方法は複数存在する。</a:t>
            </a:r>
            <a:r>
              <a:rPr lang="en-US" altLang="ja-JP" sz="2260" b="1" dirty="0" smtClean="0"/>
              <a:t/>
            </a:r>
            <a:br>
              <a:rPr lang="en-US" altLang="ja-JP" sz="2260" b="1" dirty="0" smtClean="0"/>
            </a:br>
            <a:r>
              <a:rPr lang="ja-JP" altLang="en-US" sz="2260" b="1" dirty="0" smtClean="0"/>
              <a:t>最近は</a:t>
            </a:r>
            <a:r>
              <a:rPr lang="en-US" altLang="ja-JP" sz="2260" b="1" dirty="0" err="1" smtClean="0"/>
              <a:t>UnrealEngine</a:t>
            </a:r>
            <a:r>
              <a:rPr lang="ja-JP" altLang="en-US" sz="2260" b="1" dirty="0" smtClean="0"/>
              <a:t>の</a:t>
            </a:r>
            <a:r>
              <a:rPr lang="en-US" altLang="ja-JP" sz="2260" b="1" dirty="0" smtClean="0"/>
              <a:t>Fab</a:t>
            </a:r>
            <a:r>
              <a:rPr lang="ja-JP" altLang="en-US" sz="2260" b="1" dirty="0" smtClean="0"/>
              <a:t>からでも取り込めるので</a:t>
            </a:r>
            <a:r>
              <a:rPr lang="en-US" altLang="ja-JP" sz="2260" b="1" dirty="0" smtClean="0"/>
              <a:t/>
            </a:r>
            <a:br>
              <a:rPr lang="en-US" altLang="ja-JP" sz="2260" b="1" dirty="0" smtClean="0"/>
            </a:br>
            <a:r>
              <a:rPr lang="ja-JP" altLang="en-US" sz="2260" b="1" dirty="0"/>
              <a:t>外部データの取り込みを</a:t>
            </a:r>
            <a:r>
              <a:rPr lang="ja-JP" altLang="en-US" sz="2260" b="1" dirty="0" smtClean="0"/>
              <a:t>挑戦してみよう！</a:t>
            </a:r>
            <a:endParaRPr lang="en-US" altLang="ja-JP" sz="2260" b="1" dirty="0"/>
          </a:p>
        </p:txBody>
      </p:sp>
      <p:sp>
        <p:nvSpPr>
          <p:cNvPr id="7" name="角丸四角形吹き出し 13">
            <a:extLst>
              <a:ext uri="{FF2B5EF4-FFF2-40B4-BE49-F238E27FC236}">
                <a16:creationId xmlns:a16="http://schemas.microsoft.com/office/drawing/2014/main" id="{51004DFB-DA07-44DE-A8AD-9902CBC72160}"/>
              </a:ext>
            </a:extLst>
          </p:cNvPr>
          <p:cNvSpPr/>
          <p:nvPr/>
        </p:nvSpPr>
        <p:spPr>
          <a:xfrm>
            <a:off x="971600" y="4293096"/>
            <a:ext cx="5544616" cy="1584176"/>
          </a:xfrm>
          <a:prstGeom prst="wedgeRoundRectCallout">
            <a:avLst>
              <a:gd name="adj1" fmla="val 57761"/>
              <a:gd name="adj2" fmla="val -4658"/>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アセットストアから他者の素材を使えるのが</a:t>
            </a:r>
            <a:r>
              <a:rPr lang="en-US" altLang="ja-JP" sz="2000" b="1" dirty="0" smtClean="0"/>
              <a:t/>
            </a:r>
            <a:br>
              <a:rPr lang="en-US" altLang="ja-JP" sz="2000" b="1" dirty="0" smtClean="0"/>
            </a:br>
            <a:r>
              <a:rPr lang="ja-JP" altLang="en-US" sz="2000" b="1" dirty="0" smtClean="0"/>
              <a:t>ゲームエンジンの魅力の一つだね！</a:t>
            </a:r>
            <a:r>
              <a:rPr lang="en-US" altLang="ja-JP" sz="2000" b="1" dirty="0" smtClean="0"/>
              <a:t/>
            </a:r>
            <a:br>
              <a:rPr lang="en-US" altLang="ja-JP" sz="2000" b="1" dirty="0" smtClean="0"/>
            </a:br>
            <a:r>
              <a:rPr lang="ja-JP" altLang="en-US" sz="2000" b="1" dirty="0" smtClean="0"/>
              <a:t>プログラマの弱点である「見た目」を</a:t>
            </a:r>
            <a:r>
              <a:rPr lang="en-US" altLang="ja-JP" sz="2000" b="1" dirty="0" smtClean="0"/>
              <a:t/>
            </a:r>
            <a:br>
              <a:rPr lang="en-US" altLang="ja-JP" sz="2000" b="1" dirty="0" smtClean="0"/>
            </a:br>
            <a:r>
              <a:rPr lang="ja-JP" altLang="en-US" sz="2000" b="1" dirty="0" smtClean="0"/>
              <a:t>これでカバーしてしまおう！</a:t>
            </a:r>
            <a:endParaRPr lang="en-US" altLang="ja-JP" sz="2000" b="1" dirty="0"/>
          </a:p>
        </p:txBody>
      </p:sp>
      <p:pic>
        <p:nvPicPr>
          <p:cNvPr id="2" name="Picture 2" descr="喜んでいる女性会社員のイラスト"/>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6256" y="4272963"/>
            <a:ext cx="1654517" cy="2094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p:cNvPicPr>
            <a:picLocks noChangeAspect="1"/>
          </p:cNvPicPr>
          <p:nvPr/>
        </p:nvPicPr>
        <p:blipFill>
          <a:blip r:embed="rId3"/>
          <a:stretch>
            <a:fillRect/>
          </a:stretch>
        </p:blipFill>
        <p:spPr>
          <a:xfrm>
            <a:off x="4944961" y="4036090"/>
            <a:ext cx="3871731" cy="2567126"/>
          </a:xfrm>
          <a:prstGeom prst="rect">
            <a:avLst/>
          </a:prstGeom>
        </p:spPr>
      </p:pic>
      <p:pic>
        <p:nvPicPr>
          <p:cNvPr id="8" name="図 7"/>
          <p:cNvPicPr>
            <a:picLocks noChangeAspect="1"/>
          </p:cNvPicPr>
          <p:nvPr/>
        </p:nvPicPr>
        <p:blipFill>
          <a:blip r:embed="rId4"/>
          <a:stretch>
            <a:fillRect/>
          </a:stretch>
        </p:blipFill>
        <p:spPr>
          <a:xfrm>
            <a:off x="673944" y="3949403"/>
            <a:ext cx="2409825" cy="2590800"/>
          </a:xfrm>
          <a:prstGeom prst="rect">
            <a:avLst/>
          </a:prstGeom>
        </p:spPr>
      </p:pic>
      <p:pic>
        <p:nvPicPr>
          <p:cNvPr id="2" name="図 1"/>
          <p:cNvPicPr>
            <a:picLocks noChangeAspect="1"/>
          </p:cNvPicPr>
          <p:nvPr/>
        </p:nvPicPr>
        <p:blipFill>
          <a:blip r:embed="rId5"/>
          <a:stretch>
            <a:fillRect/>
          </a:stretch>
        </p:blipFill>
        <p:spPr>
          <a:xfrm>
            <a:off x="683568" y="1795307"/>
            <a:ext cx="3143250" cy="1295400"/>
          </a:xfrm>
          <a:prstGeom prst="rect">
            <a:avLst/>
          </a:prstGeom>
        </p:spPr>
      </p:pic>
      <p:sp>
        <p:nvSpPr>
          <p:cNvPr id="14" name="Text Box 5"/>
          <p:cNvSpPr txBox="1">
            <a:spLocks noChangeArrowheads="1"/>
          </p:cNvSpPr>
          <p:nvPr/>
        </p:nvSpPr>
        <p:spPr bwMode="auto">
          <a:xfrm>
            <a:off x="243136" y="812963"/>
            <a:ext cx="8577336"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恐らく一番楽な方法。とはいえ、</a:t>
            </a:r>
            <a:r>
              <a:rPr lang="en-US" altLang="ja-JP" sz="2263" b="1" dirty="0" smtClean="0"/>
              <a:t>Unity</a:t>
            </a:r>
            <a:r>
              <a:rPr lang="ja-JP" altLang="en-US" sz="2263" b="1" dirty="0" smtClean="0"/>
              <a:t>のバージョンなど</a:t>
            </a:r>
            <a:r>
              <a:rPr lang="en-US" altLang="ja-JP" sz="2263" b="1" dirty="0" smtClean="0"/>
              <a:t/>
            </a:r>
            <a:br>
              <a:rPr lang="en-US" altLang="ja-JP" sz="2263" b="1" dirty="0" smtClean="0"/>
            </a:br>
            <a:r>
              <a:rPr lang="ja-JP" altLang="en-US" sz="2263" b="1" dirty="0" smtClean="0"/>
              <a:t>色々な原因ですぐに使えないことも多いので気を付けよう！</a:t>
            </a:r>
            <a:endParaRPr lang="ja-JP" altLang="en-US" sz="2263" b="1" dirty="0"/>
          </a:p>
        </p:txBody>
      </p:sp>
      <p:sp>
        <p:nvSpPr>
          <p:cNvPr id="16" name="Text Box 5"/>
          <p:cNvSpPr txBox="1">
            <a:spLocks noChangeArrowheads="1"/>
          </p:cNvSpPr>
          <p:nvPr/>
        </p:nvSpPr>
        <p:spPr bwMode="auto">
          <a:xfrm>
            <a:off x="547936" y="260648"/>
            <a:ext cx="4528120" cy="440570"/>
          </a:xfrm>
          <a:prstGeom prst="rect">
            <a:avLst/>
          </a:prstGeom>
          <a:ln/>
          <a:extLst/>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方法①　アセットストアから取り込み</a:t>
            </a:r>
            <a:endParaRPr lang="ja-JP" altLang="en-US" sz="2263" b="1" dirty="0"/>
          </a:p>
        </p:txBody>
      </p:sp>
      <p:sp>
        <p:nvSpPr>
          <p:cNvPr id="11" name="正方形/長方形 10">
            <a:extLst>
              <a:ext uri="{FF2B5EF4-FFF2-40B4-BE49-F238E27FC236}">
                <a16:creationId xmlns:a16="http://schemas.microsoft.com/office/drawing/2014/main" id="{9BCBFB0C-DAAF-7ACB-EDE8-94548D4B0AC7}"/>
              </a:ext>
            </a:extLst>
          </p:cNvPr>
          <p:cNvSpPr/>
          <p:nvPr/>
        </p:nvSpPr>
        <p:spPr>
          <a:xfrm>
            <a:off x="2091916" y="2274970"/>
            <a:ext cx="1327956" cy="577965"/>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角丸四角形吹き出し 13">
            <a:extLst>
              <a:ext uri="{FF2B5EF4-FFF2-40B4-BE49-F238E27FC236}">
                <a16:creationId xmlns:a16="http://schemas.microsoft.com/office/drawing/2014/main" id="{6727C8B8-9F2B-E89A-BA81-4C8B1F7F7B82}"/>
              </a:ext>
            </a:extLst>
          </p:cNvPr>
          <p:cNvSpPr/>
          <p:nvPr/>
        </p:nvSpPr>
        <p:spPr>
          <a:xfrm>
            <a:off x="2461971" y="3863583"/>
            <a:ext cx="2324565" cy="725240"/>
          </a:xfrm>
          <a:prstGeom prst="wedgeRoundRectCallout">
            <a:avLst>
              <a:gd name="adj1" fmla="val -65620"/>
              <a:gd name="adj2" fmla="val 33708"/>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今回はこれを</a:t>
            </a:r>
            <a:r>
              <a:rPr lang="en-US" altLang="ja-JP" sz="2000" b="1" dirty="0" smtClean="0"/>
              <a:t/>
            </a:r>
            <a:br>
              <a:rPr lang="en-US" altLang="ja-JP" sz="2000" b="1" dirty="0" smtClean="0"/>
            </a:br>
            <a:r>
              <a:rPr lang="ja-JP" altLang="en-US" sz="2000" b="1" dirty="0" smtClean="0"/>
              <a:t>入手しよう！</a:t>
            </a:r>
            <a:endParaRPr lang="ja-JP" altLang="en-US" sz="2000" b="1" dirty="0"/>
          </a:p>
        </p:txBody>
      </p:sp>
      <p:pic>
        <p:nvPicPr>
          <p:cNvPr id="6" name="図 5"/>
          <p:cNvPicPr>
            <a:picLocks noChangeAspect="1"/>
          </p:cNvPicPr>
          <p:nvPr/>
        </p:nvPicPr>
        <p:blipFill>
          <a:blip r:embed="rId6"/>
          <a:stretch>
            <a:fillRect/>
          </a:stretch>
        </p:blipFill>
        <p:spPr>
          <a:xfrm>
            <a:off x="4828220" y="2274970"/>
            <a:ext cx="4055343" cy="729050"/>
          </a:xfrm>
          <a:prstGeom prst="rect">
            <a:avLst/>
          </a:prstGeom>
        </p:spPr>
      </p:pic>
      <p:sp>
        <p:nvSpPr>
          <p:cNvPr id="7" name="右矢印 6"/>
          <p:cNvSpPr/>
          <p:nvPr/>
        </p:nvSpPr>
        <p:spPr>
          <a:xfrm>
            <a:off x="4057789" y="2443007"/>
            <a:ext cx="474015" cy="4099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ext Box 5"/>
          <p:cNvSpPr txBox="1">
            <a:spLocks noChangeArrowheads="1"/>
          </p:cNvSpPr>
          <p:nvPr/>
        </p:nvSpPr>
        <p:spPr bwMode="auto">
          <a:xfrm>
            <a:off x="323822" y="3299770"/>
            <a:ext cx="8577336"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アセットストアを開き、「</a:t>
            </a:r>
            <a:r>
              <a:rPr lang="en-US" altLang="ja-JP" sz="2263" b="1" dirty="0" smtClean="0"/>
              <a:t>unity </a:t>
            </a:r>
            <a:r>
              <a:rPr lang="en-US" altLang="ja-JP" sz="2263" b="1" dirty="0" err="1" smtClean="0"/>
              <a:t>chan</a:t>
            </a:r>
            <a:r>
              <a:rPr lang="ja-JP" altLang="en-US" sz="2263" b="1" dirty="0" smtClean="0"/>
              <a:t>」で検索。</a:t>
            </a:r>
            <a:endParaRPr lang="ja-JP" altLang="en-US" sz="2263" b="1" dirty="0"/>
          </a:p>
        </p:txBody>
      </p:sp>
      <p:sp>
        <p:nvSpPr>
          <p:cNvPr id="27" name="正方形/長方形 26">
            <a:extLst>
              <a:ext uri="{FF2B5EF4-FFF2-40B4-BE49-F238E27FC236}">
                <a16:creationId xmlns:a16="http://schemas.microsoft.com/office/drawing/2014/main" id="{9BCBFB0C-DAAF-7ACB-EDE8-94548D4B0AC7}"/>
              </a:ext>
            </a:extLst>
          </p:cNvPr>
          <p:cNvSpPr/>
          <p:nvPr/>
        </p:nvSpPr>
        <p:spPr>
          <a:xfrm>
            <a:off x="6732240" y="4941169"/>
            <a:ext cx="2016224" cy="36004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吹き出し 13">
            <a:extLst>
              <a:ext uri="{FF2B5EF4-FFF2-40B4-BE49-F238E27FC236}">
                <a16:creationId xmlns:a16="http://schemas.microsoft.com/office/drawing/2014/main" id="{6727C8B8-9F2B-E89A-BA81-4C8B1F7F7B82}"/>
              </a:ext>
            </a:extLst>
          </p:cNvPr>
          <p:cNvSpPr/>
          <p:nvPr/>
        </p:nvSpPr>
        <p:spPr>
          <a:xfrm>
            <a:off x="3166393" y="5517232"/>
            <a:ext cx="3434727" cy="725240"/>
          </a:xfrm>
          <a:prstGeom prst="wedgeRoundRectCallout">
            <a:avLst>
              <a:gd name="adj1" fmla="val 46050"/>
              <a:gd name="adj2" fmla="val -78366"/>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入手後はマイアセットから</a:t>
            </a:r>
            <a:r>
              <a:rPr lang="en-US" altLang="ja-JP" sz="2000" b="1" dirty="0" smtClean="0"/>
              <a:t/>
            </a:r>
            <a:br>
              <a:rPr lang="en-US" altLang="ja-JP" sz="2000" b="1" dirty="0" smtClean="0"/>
            </a:br>
            <a:r>
              <a:rPr lang="ja-JP" altLang="en-US" sz="2000" b="1" dirty="0" smtClean="0"/>
              <a:t>ダウンロード＆インポート！</a:t>
            </a:r>
            <a:endParaRPr lang="ja-JP" altLang="en-US" sz="2000" b="1" dirty="0"/>
          </a:p>
        </p:txBody>
      </p:sp>
    </p:spTree>
    <p:extLst>
      <p:ext uri="{BB962C8B-B14F-4D97-AF65-F5344CB8AC3E}">
        <p14:creationId xmlns:p14="http://schemas.microsoft.com/office/powerpoint/2010/main" val="35476936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3"/>
          <a:stretch>
            <a:fillRect/>
          </a:stretch>
        </p:blipFill>
        <p:spPr>
          <a:xfrm>
            <a:off x="6626003" y="116631"/>
            <a:ext cx="1906437" cy="2884873"/>
          </a:xfrm>
          <a:prstGeom prst="rect">
            <a:avLst/>
          </a:prstGeom>
        </p:spPr>
      </p:pic>
      <p:sp>
        <p:nvSpPr>
          <p:cNvPr id="12" name="Text Box 5"/>
          <p:cNvSpPr txBox="1">
            <a:spLocks noChangeArrowheads="1"/>
          </p:cNvSpPr>
          <p:nvPr/>
        </p:nvSpPr>
        <p:spPr bwMode="auto">
          <a:xfrm>
            <a:off x="179524" y="310738"/>
            <a:ext cx="5688620" cy="2181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入手後は右図のように「</a:t>
            </a:r>
            <a:r>
              <a:rPr lang="en-US" altLang="ja-JP" sz="2263" b="1" dirty="0" smtClean="0"/>
              <a:t>Assets</a:t>
            </a:r>
            <a:r>
              <a:rPr lang="ja-JP" altLang="en-US" sz="2263" b="1" dirty="0" smtClean="0"/>
              <a:t>」フォルダに</a:t>
            </a:r>
            <a:r>
              <a:rPr lang="en-US" altLang="ja-JP" sz="2263" b="1" dirty="0" smtClean="0"/>
              <a:t/>
            </a:r>
            <a:br>
              <a:rPr lang="en-US" altLang="ja-JP" sz="2263" b="1" dirty="0" smtClean="0"/>
            </a:br>
            <a:r>
              <a:rPr lang="ja-JP" altLang="en-US" sz="2263" b="1" dirty="0" smtClean="0"/>
              <a:t>データが追加されている。</a:t>
            </a:r>
            <a:r>
              <a:rPr lang="en-US" altLang="ja-JP" sz="2263" b="1" dirty="0" smtClean="0"/>
              <a:t/>
            </a:r>
            <a:br>
              <a:rPr lang="en-US" altLang="ja-JP" sz="2263" b="1" dirty="0" smtClean="0"/>
            </a:br>
            <a:r>
              <a:rPr lang="ja-JP" altLang="en-US" sz="2263" b="1" dirty="0" smtClean="0"/>
              <a:t>とりあえずモデルを使いたいのであれば</a:t>
            </a:r>
            <a:r>
              <a:rPr lang="en-US" altLang="ja-JP" sz="2263" b="1" dirty="0" smtClean="0"/>
              <a:t/>
            </a:r>
            <a:br>
              <a:rPr lang="en-US" altLang="ja-JP" sz="2263" b="1" dirty="0" smtClean="0"/>
            </a:br>
            <a:r>
              <a:rPr lang="ja-JP" altLang="en-US" sz="2263" b="1" dirty="0" smtClean="0"/>
              <a:t>「</a:t>
            </a:r>
            <a:r>
              <a:rPr lang="en-US" altLang="ja-JP" sz="2263" b="1" dirty="0" smtClean="0"/>
              <a:t>Art</a:t>
            </a:r>
            <a:r>
              <a:rPr lang="ja-JP" altLang="en-US" sz="2263" b="1" dirty="0" smtClean="0"/>
              <a:t>」⇒「</a:t>
            </a:r>
            <a:r>
              <a:rPr lang="en-US" altLang="ja-JP" sz="2263" b="1" dirty="0" smtClean="0"/>
              <a:t>Models</a:t>
            </a:r>
            <a:r>
              <a:rPr lang="ja-JP" altLang="en-US" sz="2263" b="1" dirty="0" smtClean="0"/>
              <a:t>」フォルダ内にある</a:t>
            </a:r>
            <a:r>
              <a:rPr lang="en-US" altLang="ja-JP" sz="2263" b="1" dirty="0" smtClean="0"/>
              <a:t/>
            </a:r>
            <a:br>
              <a:rPr lang="en-US" altLang="ja-JP" sz="2263" b="1" dirty="0" smtClean="0"/>
            </a:br>
            <a:r>
              <a:rPr lang="ja-JP" altLang="en-US" sz="2263" b="1" dirty="0" smtClean="0"/>
              <a:t>データをドラッグ＆ドロップすれば</a:t>
            </a:r>
            <a:r>
              <a:rPr lang="en-US" altLang="ja-JP" sz="2263" b="1" dirty="0" smtClean="0"/>
              <a:t/>
            </a:r>
            <a:br>
              <a:rPr lang="en-US" altLang="ja-JP" sz="2263" b="1" dirty="0" smtClean="0"/>
            </a:br>
            <a:r>
              <a:rPr lang="ja-JP" altLang="en-US" sz="2263" b="1" dirty="0" smtClean="0"/>
              <a:t>いいはずなのだが・・・</a:t>
            </a:r>
            <a:endParaRPr lang="ja-JP" altLang="en-US" sz="2263" b="1" dirty="0"/>
          </a:p>
        </p:txBody>
      </p:sp>
      <p:sp>
        <p:nvSpPr>
          <p:cNvPr id="14" name="正方形/長方形 13">
            <a:extLst>
              <a:ext uri="{FF2B5EF4-FFF2-40B4-BE49-F238E27FC236}">
                <a16:creationId xmlns:a16="http://schemas.microsoft.com/office/drawing/2014/main" id="{80E889EB-CAC7-BDEF-465E-B592537E9422}"/>
              </a:ext>
            </a:extLst>
          </p:cNvPr>
          <p:cNvSpPr/>
          <p:nvPr/>
        </p:nvSpPr>
        <p:spPr>
          <a:xfrm>
            <a:off x="7259376" y="1988840"/>
            <a:ext cx="769007" cy="36004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p:nvPicPr>
        <p:blipFill>
          <a:blip r:embed="rId4"/>
          <a:stretch>
            <a:fillRect/>
          </a:stretch>
        </p:blipFill>
        <p:spPr>
          <a:xfrm>
            <a:off x="1259632" y="3573016"/>
            <a:ext cx="2430894" cy="2972430"/>
          </a:xfrm>
          <a:prstGeom prst="rect">
            <a:avLst/>
          </a:prstGeom>
        </p:spPr>
      </p:pic>
      <p:sp>
        <p:nvSpPr>
          <p:cNvPr id="18" name="角丸四角形吹き出し 13">
            <a:extLst>
              <a:ext uri="{FF2B5EF4-FFF2-40B4-BE49-F238E27FC236}">
                <a16:creationId xmlns:a16="http://schemas.microsoft.com/office/drawing/2014/main" id="{6727C8B8-9F2B-E89A-BA81-4C8B1F7F7B82}"/>
              </a:ext>
            </a:extLst>
          </p:cNvPr>
          <p:cNvSpPr/>
          <p:nvPr/>
        </p:nvSpPr>
        <p:spPr>
          <a:xfrm>
            <a:off x="3995936" y="3717032"/>
            <a:ext cx="3434727" cy="725240"/>
          </a:xfrm>
          <a:prstGeom prst="wedgeRoundRectCallout">
            <a:avLst>
              <a:gd name="adj1" fmla="val 43585"/>
              <a:gd name="adj2" fmla="val 110758"/>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色が真紫</a:t>
            </a:r>
            <a:r>
              <a:rPr lang="ja-JP" altLang="en-US" sz="2000" b="1" dirty="0" err="1" smtClean="0"/>
              <a:t>やんけ</a:t>
            </a:r>
            <a:r>
              <a:rPr lang="ja-JP" altLang="en-US" sz="2000" b="1" dirty="0" smtClean="0"/>
              <a:t>！</a:t>
            </a:r>
            <a:r>
              <a:rPr lang="en-US" altLang="ja-JP" sz="2000" b="1" dirty="0" smtClean="0"/>
              <a:t/>
            </a:r>
            <a:br>
              <a:rPr lang="en-US" altLang="ja-JP" sz="2000" b="1" dirty="0" smtClean="0"/>
            </a:br>
            <a:r>
              <a:rPr lang="ja-JP" altLang="en-US" sz="2000" b="1" dirty="0" smtClean="0"/>
              <a:t>こんなの使えんわ！！</a:t>
            </a:r>
            <a:endParaRPr lang="ja-JP" altLang="en-US" sz="2000" b="1" dirty="0"/>
          </a:p>
        </p:txBody>
      </p:sp>
      <p:pic>
        <p:nvPicPr>
          <p:cNvPr id="2050" name="Picture 2" descr="怒った猫のイラスト"/>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4288" y="4653136"/>
            <a:ext cx="1537504" cy="1782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8001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3"/>
          <a:stretch>
            <a:fillRect/>
          </a:stretch>
        </p:blipFill>
        <p:spPr>
          <a:xfrm>
            <a:off x="3851920" y="3501008"/>
            <a:ext cx="1536740" cy="2550988"/>
          </a:xfrm>
          <a:prstGeom prst="rect">
            <a:avLst/>
          </a:prstGeom>
        </p:spPr>
      </p:pic>
      <p:sp>
        <p:nvSpPr>
          <p:cNvPr id="14" name="Text Box 5"/>
          <p:cNvSpPr txBox="1">
            <a:spLocks noChangeArrowheads="1"/>
          </p:cNvSpPr>
          <p:nvPr/>
        </p:nvSpPr>
        <p:spPr bwMode="auto">
          <a:xfrm>
            <a:off x="243136" y="812963"/>
            <a:ext cx="8577336"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アセットストア以外のサイトでも</a:t>
            </a:r>
            <a:r>
              <a:rPr lang="en-US" altLang="ja-JP" sz="2263" b="1" dirty="0" smtClean="0"/>
              <a:t>Unity</a:t>
            </a:r>
            <a:r>
              <a:rPr lang="ja-JP" altLang="en-US" sz="2263" b="1" dirty="0" err="1" smtClean="0"/>
              <a:t>に簡</a:t>
            </a:r>
            <a:r>
              <a:rPr lang="ja-JP" altLang="en-US" sz="2263" b="1" dirty="0" smtClean="0"/>
              <a:t>単に取り組めるような</a:t>
            </a:r>
            <a:r>
              <a:rPr lang="en-US" altLang="ja-JP" sz="2263" b="1" dirty="0" smtClean="0"/>
              <a:t/>
            </a:r>
            <a:br>
              <a:rPr lang="en-US" altLang="ja-JP" sz="2263" b="1" dirty="0" smtClean="0"/>
            </a:br>
            <a:r>
              <a:rPr lang="ja-JP" altLang="en-US" sz="2263" b="1" dirty="0" smtClean="0"/>
              <a:t>「</a:t>
            </a:r>
            <a:r>
              <a:rPr lang="en-US" altLang="ja-JP" sz="2263" b="1" dirty="0" smtClean="0">
                <a:solidFill>
                  <a:srgbClr val="FF66CC"/>
                </a:solidFill>
              </a:rPr>
              <a:t>.</a:t>
            </a:r>
            <a:r>
              <a:rPr lang="en-US" altLang="ja-JP" sz="2263" b="1" dirty="0" err="1" smtClean="0">
                <a:solidFill>
                  <a:srgbClr val="FF66CC"/>
                </a:solidFill>
              </a:rPr>
              <a:t>unitypackage</a:t>
            </a:r>
            <a:r>
              <a:rPr lang="ja-JP" altLang="en-US" sz="2263" b="1" dirty="0" smtClean="0"/>
              <a:t>」という拡張子のデータが存在する。</a:t>
            </a:r>
            <a:r>
              <a:rPr lang="en-US" altLang="ja-JP" sz="2263" b="1" dirty="0" smtClean="0"/>
              <a:t/>
            </a:r>
            <a:br>
              <a:rPr lang="en-US" altLang="ja-JP" sz="2263" b="1" dirty="0" smtClean="0"/>
            </a:br>
            <a:r>
              <a:rPr lang="ja-JP" altLang="en-US" sz="2263" b="1" dirty="0" smtClean="0"/>
              <a:t>これをインポートする事でも取り込み可能。</a:t>
            </a:r>
            <a:endParaRPr lang="ja-JP" altLang="en-US" sz="2263" b="1" dirty="0"/>
          </a:p>
        </p:txBody>
      </p:sp>
      <p:sp>
        <p:nvSpPr>
          <p:cNvPr id="16" name="Text Box 5"/>
          <p:cNvSpPr txBox="1">
            <a:spLocks noChangeArrowheads="1"/>
          </p:cNvSpPr>
          <p:nvPr/>
        </p:nvSpPr>
        <p:spPr bwMode="auto">
          <a:xfrm>
            <a:off x="547936" y="260648"/>
            <a:ext cx="5032176" cy="440570"/>
          </a:xfrm>
          <a:prstGeom prst="rect">
            <a:avLst/>
          </a:prstGeom>
          <a:ln/>
          <a:extLst/>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方法②　</a:t>
            </a:r>
            <a:r>
              <a:rPr lang="en-US" altLang="ja-JP" sz="2263" b="1" dirty="0" err="1"/>
              <a:t>unitypackage</a:t>
            </a:r>
            <a:r>
              <a:rPr lang="ja-JP" altLang="en-US" sz="2263" b="1" dirty="0" smtClean="0"/>
              <a:t>から取り込み</a:t>
            </a:r>
            <a:endParaRPr lang="ja-JP" altLang="en-US" sz="2263" b="1" dirty="0"/>
          </a:p>
        </p:txBody>
      </p:sp>
      <p:sp>
        <p:nvSpPr>
          <p:cNvPr id="11" name="正方形/長方形 10">
            <a:extLst>
              <a:ext uri="{FF2B5EF4-FFF2-40B4-BE49-F238E27FC236}">
                <a16:creationId xmlns:a16="http://schemas.microsoft.com/office/drawing/2014/main" id="{9BCBFB0C-DAAF-7ACB-EDE8-94548D4B0AC7}"/>
              </a:ext>
            </a:extLst>
          </p:cNvPr>
          <p:cNvSpPr/>
          <p:nvPr/>
        </p:nvSpPr>
        <p:spPr>
          <a:xfrm>
            <a:off x="5004048" y="5805264"/>
            <a:ext cx="432048" cy="30978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角丸四角形吹き出し 13">
            <a:extLst>
              <a:ext uri="{FF2B5EF4-FFF2-40B4-BE49-F238E27FC236}">
                <a16:creationId xmlns:a16="http://schemas.microsoft.com/office/drawing/2014/main" id="{6727C8B8-9F2B-E89A-BA81-4C8B1F7F7B82}"/>
              </a:ext>
            </a:extLst>
          </p:cNvPr>
          <p:cNvSpPr/>
          <p:nvPr/>
        </p:nvSpPr>
        <p:spPr>
          <a:xfrm>
            <a:off x="3275856" y="2129844"/>
            <a:ext cx="5688632" cy="1083131"/>
          </a:xfrm>
          <a:prstGeom prst="wedgeRoundRectCallout">
            <a:avLst>
              <a:gd name="adj1" fmla="val -65620"/>
              <a:gd name="adj2" fmla="val 33708"/>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なお、今回は</a:t>
            </a:r>
            <a:r>
              <a:rPr lang="en-US" altLang="ja-JP" sz="2000" b="1" dirty="0" smtClean="0"/>
              <a:t>unity</a:t>
            </a:r>
            <a:r>
              <a:rPr lang="ja-JP" altLang="en-US" sz="2000" b="1" dirty="0" err="1" smtClean="0"/>
              <a:t>ちゃんの</a:t>
            </a:r>
            <a:r>
              <a:rPr lang="en-US" altLang="ja-JP" sz="2000" b="1" dirty="0" smtClean="0"/>
              <a:t/>
            </a:r>
            <a:br>
              <a:rPr lang="en-US" altLang="ja-JP" sz="2000" b="1" dirty="0" smtClean="0"/>
            </a:br>
            <a:r>
              <a:rPr lang="ja-JP" altLang="en-US" sz="2000" b="1" dirty="0" smtClean="0"/>
              <a:t>色問題を解決する</a:t>
            </a:r>
            <a:r>
              <a:rPr lang="en-US" altLang="ja-JP" sz="2000" b="1" dirty="0" err="1" smtClean="0"/>
              <a:t>unitypackage</a:t>
            </a:r>
            <a:r>
              <a:rPr lang="ja-JP" altLang="en-US" sz="2000" b="1" dirty="0" smtClean="0"/>
              <a:t>を用意しました。</a:t>
            </a:r>
            <a:r>
              <a:rPr lang="en-US" altLang="ja-JP" sz="2000" b="1" dirty="0" smtClean="0"/>
              <a:t/>
            </a:r>
            <a:br>
              <a:rPr lang="en-US" altLang="ja-JP" sz="2000" b="1" dirty="0" smtClean="0"/>
            </a:br>
            <a:r>
              <a:rPr lang="ja-JP" altLang="en-US" sz="2000" b="1" dirty="0" smtClean="0"/>
              <a:t>これでインポートの練習をしましょう。</a:t>
            </a:r>
            <a:endParaRPr lang="ja-JP" altLang="en-US" sz="2000" b="1" dirty="0"/>
          </a:p>
        </p:txBody>
      </p:sp>
      <p:sp>
        <p:nvSpPr>
          <p:cNvPr id="7" name="右矢印 6"/>
          <p:cNvSpPr/>
          <p:nvPr/>
        </p:nvSpPr>
        <p:spPr>
          <a:xfrm>
            <a:off x="2617992" y="4509120"/>
            <a:ext cx="892063" cy="8712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ext Box 5"/>
          <p:cNvSpPr txBox="1">
            <a:spLocks noChangeArrowheads="1"/>
          </p:cNvSpPr>
          <p:nvPr/>
        </p:nvSpPr>
        <p:spPr bwMode="auto">
          <a:xfrm>
            <a:off x="93547" y="5855517"/>
            <a:ext cx="2956520"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該当ファイルを</a:t>
            </a:r>
            <a:r>
              <a:rPr lang="en-US" altLang="ja-JP" sz="2263" b="1" dirty="0" smtClean="0"/>
              <a:t/>
            </a:r>
            <a:br>
              <a:rPr lang="en-US" altLang="ja-JP" sz="2263" b="1" dirty="0" smtClean="0"/>
            </a:br>
            <a:r>
              <a:rPr lang="ja-JP" altLang="en-US" sz="2263" b="1" dirty="0" smtClean="0"/>
              <a:t>ダブルクリックし、</a:t>
            </a:r>
            <a:endParaRPr lang="ja-JP" altLang="en-US" sz="2263" b="1" dirty="0"/>
          </a:p>
        </p:txBody>
      </p:sp>
      <p:pic>
        <p:nvPicPr>
          <p:cNvPr id="3" name="図 2"/>
          <p:cNvPicPr>
            <a:picLocks noChangeAspect="1"/>
          </p:cNvPicPr>
          <p:nvPr/>
        </p:nvPicPr>
        <p:blipFill>
          <a:blip r:embed="rId4"/>
          <a:stretch>
            <a:fillRect/>
          </a:stretch>
        </p:blipFill>
        <p:spPr>
          <a:xfrm>
            <a:off x="799999" y="3933056"/>
            <a:ext cx="1419225" cy="1695450"/>
          </a:xfrm>
          <a:prstGeom prst="rect">
            <a:avLst/>
          </a:prstGeom>
        </p:spPr>
      </p:pic>
      <p:sp>
        <p:nvSpPr>
          <p:cNvPr id="17" name="Text Box 5"/>
          <p:cNvSpPr txBox="1">
            <a:spLocks noChangeArrowheads="1"/>
          </p:cNvSpPr>
          <p:nvPr/>
        </p:nvSpPr>
        <p:spPr bwMode="auto">
          <a:xfrm>
            <a:off x="3142030" y="6249920"/>
            <a:ext cx="2956520"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インポートするだけ！</a:t>
            </a:r>
            <a:endParaRPr lang="ja-JP" altLang="en-US" sz="2263" b="1" dirty="0"/>
          </a:p>
        </p:txBody>
      </p:sp>
      <p:sp>
        <p:nvSpPr>
          <p:cNvPr id="18" name="Text Box 5"/>
          <p:cNvSpPr txBox="1">
            <a:spLocks noChangeArrowheads="1"/>
          </p:cNvSpPr>
          <p:nvPr/>
        </p:nvSpPr>
        <p:spPr bwMode="auto">
          <a:xfrm>
            <a:off x="5796136" y="4143228"/>
            <a:ext cx="3240360" cy="1485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起動時に</a:t>
            </a:r>
            <a:r>
              <a:rPr lang="en-US" altLang="ja-JP" sz="2263" b="1" dirty="0"/>
              <a:t/>
            </a:r>
            <a:br>
              <a:rPr lang="en-US" altLang="ja-JP" sz="2263" b="1" dirty="0"/>
            </a:br>
            <a:r>
              <a:rPr lang="ja-JP" altLang="en-US" sz="2263" b="1" dirty="0" smtClean="0"/>
              <a:t>どれで開くか聞かれたら</a:t>
            </a:r>
            <a:r>
              <a:rPr lang="en-US" altLang="ja-JP" sz="2263" b="1" dirty="0" smtClean="0"/>
              <a:t/>
            </a:r>
            <a:br>
              <a:rPr lang="en-US" altLang="ja-JP" sz="2263" b="1" dirty="0" smtClean="0"/>
            </a:br>
            <a:r>
              <a:rPr lang="en-US" altLang="ja-JP" sz="2263" b="1" dirty="0" smtClean="0">
                <a:solidFill>
                  <a:srgbClr val="0070C0"/>
                </a:solidFill>
              </a:rPr>
              <a:t>Unity</a:t>
            </a:r>
            <a:r>
              <a:rPr lang="ja-JP" altLang="en-US" sz="2263" b="1" dirty="0" smtClean="0">
                <a:solidFill>
                  <a:srgbClr val="0070C0"/>
                </a:solidFill>
              </a:rPr>
              <a:t>エディター</a:t>
            </a:r>
            <a:r>
              <a:rPr lang="ja-JP" altLang="en-US" sz="2263" b="1" dirty="0" smtClean="0"/>
              <a:t>を</a:t>
            </a:r>
            <a:r>
              <a:rPr lang="en-US" altLang="ja-JP" sz="2263" b="1" dirty="0" smtClean="0"/>
              <a:t/>
            </a:r>
            <a:br>
              <a:rPr lang="en-US" altLang="ja-JP" sz="2263" b="1" dirty="0" smtClean="0"/>
            </a:br>
            <a:r>
              <a:rPr lang="ja-JP" altLang="en-US" sz="2263" b="1" dirty="0" smtClean="0"/>
              <a:t>選択しよう！</a:t>
            </a:r>
            <a:endParaRPr lang="ja-JP" altLang="en-US" sz="2263" b="1" dirty="0"/>
          </a:p>
        </p:txBody>
      </p:sp>
      <p:pic>
        <p:nvPicPr>
          <p:cNvPr id="3074" name="Picture 2" descr="手紙を渡す会社員のイラスト（男性）"/>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273" y="1941874"/>
            <a:ext cx="1676676" cy="1676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3964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5"/>
          <p:cNvSpPr txBox="1">
            <a:spLocks noChangeArrowheads="1"/>
          </p:cNvSpPr>
          <p:nvPr/>
        </p:nvSpPr>
        <p:spPr bwMode="auto">
          <a:xfrm>
            <a:off x="179524" y="310738"/>
            <a:ext cx="8640948" cy="1485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インポート後は、基本的には方法①と同じように</a:t>
            </a:r>
            <a:r>
              <a:rPr lang="en-US" altLang="ja-JP" sz="2263" b="1" dirty="0" smtClean="0"/>
              <a:t/>
            </a:r>
            <a:br>
              <a:rPr lang="en-US" altLang="ja-JP" sz="2263" b="1" dirty="0" smtClean="0"/>
            </a:br>
            <a:r>
              <a:rPr lang="ja-JP" altLang="en-US" sz="2263" b="1" dirty="0" smtClean="0"/>
              <a:t>新しいフォルダが追加される。</a:t>
            </a:r>
            <a:r>
              <a:rPr lang="en-US" altLang="ja-JP" sz="2263" b="1" dirty="0" smtClean="0"/>
              <a:t/>
            </a:r>
            <a:br>
              <a:rPr lang="en-US" altLang="ja-JP" sz="2263" b="1" dirty="0" smtClean="0"/>
            </a:br>
            <a:r>
              <a:rPr lang="ja-JP" altLang="en-US" sz="2263" b="1" dirty="0" smtClean="0"/>
              <a:t>ただし、今回は</a:t>
            </a:r>
            <a:r>
              <a:rPr lang="en-US" altLang="ja-JP" sz="2263" b="1" dirty="0" smtClean="0"/>
              <a:t>Unity</a:t>
            </a:r>
            <a:r>
              <a:rPr lang="ja-JP" altLang="en-US" sz="2263" b="1" dirty="0" err="1" smtClean="0"/>
              <a:t>ちゃんの</a:t>
            </a:r>
            <a:r>
              <a:rPr lang="ja-JP" altLang="en-US" sz="2263" b="1" dirty="0" smtClean="0"/>
              <a:t>不具合を直すデータを</a:t>
            </a:r>
            <a:r>
              <a:rPr lang="en-US" altLang="ja-JP" sz="2263" b="1" dirty="0" smtClean="0"/>
              <a:t/>
            </a:r>
            <a:br>
              <a:rPr lang="en-US" altLang="ja-JP" sz="2263" b="1" dirty="0" smtClean="0"/>
            </a:br>
            <a:r>
              <a:rPr lang="ja-JP" altLang="en-US" sz="2263" b="1" dirty="0" smtClean="0"/>
              <a:t>追加しただけなので、既存データが上書きされただけとなる。</a:t>
            </a:r>
            <a:endParaRPr lang="ja-JP" altLang="en-US" sz="2263" b="1" dirty="0"/>
          </a:p>
        </p:txBody>
      </p:sp>
      <p:sp>
        <p:nvSpPr>
          <p:cNvPr id="18" name="角丸四角形吹き出し 13">
            <a:extLst>
              <a:ext uri="{FF2B5EF4-FFF2-40B4-BE49-F238E27FC236}">
                <a16:creationId xmlns:a16="http://schemas.microsoft.com/office/drawing/2014/main" id="{6727C8B8-9F2B-E89A-BA81-4C8B1F7F7B82}"/>
              </a:ext>
            </a:extLst>
          </p:cNvPr>
          <p:cNvSpPr/>
          <p:nvPr/>
        </p:nvSpPr>
        <p:spPr>
          <a:xfrm>
            <a:off x="539552" y="4725144"/>
            <a:ext cx="3434727" cy="725240"/>
          </a:xfrm>
          <a:prstGeom prst="wedgeRoundRectCallout">
            <a:avLst>
              <a:gd name="adj1" fmla="val 43585"/>
              <a:gd name="adj2" fmla="val 110758"/>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ちゃんと色がついた</a:t>
            </a:r>
            <a:r>
              <a:rPr lang="en-US" altLang="ja-JP" sz="2000" b="1" dirty="0" smtClean="0"/>
              <a:t/>
            </a:r>
            <a:br>
              <a:rPr lang="en-US" altLang="ja-JP" sz="2000" b="1" dirty="0" smtClean="0"/>
            </a:br>
            <a:r>
              <a:rPr lang="ja-JP" altLang="en-US" sz="2000" b="1" dirty="0" smtClean="0"/>
              <a:t>モデルに変わった！</a:t>
            </a:r>
            <a:endParaRPr lang="ja-JP" altLang="en-US" sz="2000" b="1" dirty="0"/>
          </a:p>
        </p:txBody>
      </p:sp>
      <p:pic>
        <p:nvPicPr>
          <p:cNvPr id="3" name="図 2"/>
          <p:cNvPicPr>
            <a:picLocks noChangeAspect="1"/>
          </p:cNvPicPr>
          <p:nvPr/>
        </p:nvPicPr>
        <p:blipFill>
          <a:blip r:embed="rId3"/>
          <a:stretch>
            <a:fillRect/>
          </a:stretch>
        </p:blipFill>
        <p:spPr>
          <a:xfrm>
            <a:off x="1835696" y="2132856"/>
            <a:ext cx="1562100" cy="2438400"/>
          </a:xfrm>
          <a:prstGeom prst="rect">
            <a:avLst/>
          </a:prstGeom>
        </p:spPr>
      </p:pic>
      <p:pic>
        <p:nvPicPr>
          <p:cNvPr id="4" name="図 3"/>
          <p:cNvPicPr>
            <a:picLocks noChangeAspect="1"/>
          </p:cNvPicPr>
          <p:nvPr/>
        </p:nvPicPr>
        <p:blipFill>
          <a:blip r:embed="rId4"/>
          <a:stretch>
            <a:fillRect/>
          </a:stretch>
        </p:blipFill>
        <p:spPr>
          <a:xfrm>
            <a:off x="5292080" y="2258098"/>
            <a:ext cx="3096344" cy="2288006"/>
          </a:xfrm>
          <a:prstGeom prst="rect">
            <a:avLst/>
          </a:prstGeom>
        </p:spPr>
      </p:pic>
      <p:sp>
        <p:nvSpPr>
          <p:cNvPr id="9" name="角丸四角形吹き出し 13">
            <a:extLst>
              <a:ext uri="{FF2B5EF4-FFF2-40B4-BE49-F238E27FC236}">
                <a16:creationId xmlns:a16="http://schemas.microsoft.com/office/drawing/2014/main" id="{6727C8B8-9F2B-E89A-BA81-4C8B1F7F7B82}"/>
              </a:ext>
            </a:extLst>
          </p:cNvPr>
          <p:cNvSpPr/>
          <p:nvPr/>
        </p:nvSpPr>
        <p:spPr>
          <a:xfrm>
            <a:off x="5220072" y="4725144"/>
            <a:ext cx="3794767" cy="725240"/>
          </a:xfrm>
          <a:prstGeom prst="wedgeRoundRectCallout">
            <a:avLst>
              <a:gd name="adj1" fmla="val -44471"/>
              <a:gd name="adj2" fmla="val 111925"/>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でも、すべてのデータを</a:t>
            </a:r>
            <a:r>
              <a:rPr lang="en-US" altLang="ja-JP" sz="2000" b="1" dirty="0" smtClean="0"/>
              <a:t/>
            </a:r>
            <a:br>
              <a:rPr lang="en-US" altLang="ja-JP" sz="2000" b="1" dirty="0" smtClean="0"/>
            </a:br>
            <a:r>
              <a:rPr lang="ja-JP" altLang="en-US" sz="2000" b="1" dirty="0" smtClean="0"/>
              <a:t>差し替えてはくれないのね・・・</a:t>
            </a:r>
            <a:endParaRPr lang="ja-JP" altLang="en-US" sz="2000" b="1" dirty="0"/>
          </a:p>
        </p:txBody>
      </p:sp>
      <p:pic>
        <p:nvPicPr>
          <p:cNvPr id="4098" name="Picture 2" descr="心配そうに話し合う女性のイラスト"/>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1921" y="5494149"/>
            <a:ext cx="1515390" cy="1363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8498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p:cNvPicPr>
            <a:picLocks noChangeAspect="1"/>
          </p:cNvPicPr>
          <p:nvPr/>
        </p:nvPicPr>
        <p:blipFill>
          <a:blip r:embed="rId3"/>
          <a:stretch>
            <a:fillRect/>
          </a:stretch>
        </p:blipFill>
        <p:spPr>
          <a:xfrm>
            <a:off x="547936" y="4671448"/>
            <a:ext cx="2132363" cy="1725702"/>
          </a:xfrm>
          <a:prstGeom prst="rect">
            <a:avLst/>
          </a:prstGeom>
        </p:spPr>
      </p:pic>
      <p:sp>
        <p:nvSpPr>
          <p:cNvPr id="14" name="Text Box 5"/>
          <p:cNvSpPr txBox="1">
            <a:spLocks noChangeArrowheads="1"/>
          </p:cNvSpPr>
          <p:nvPr/>
        </p:nvSpPr>
        <p:spPr bwMode="auto">
          <a:xfrm>
            <a:off x="243136" y="812963"/>
            <a:ext cx="8577336"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en-US" altLang="ja-JP" sz="2263" b="1" dirty="0" err="1" smtClean="0"/>
              <a:t>fbx</a:t>
            </a:r>
            <a:r>
              <a:rPr lang="ja-JP" altLang="en-US" sz="2263" b="1" dirty="0" smtClean="0"/>
              <a:t>ファイルを直接読み込むことも可能。</a:t>
            </a:r>
            <a:r>
              <a:rPr lang="en-US" altLang="ja-JP" sz="2263" b="1" dirty="0" smtClean="0"/>
              <a:t/>
            </a:r>
            <a:br>
              <a:rPr lang="en-US" altLang="ja-JP" sz="2263" b="1" dirty="0" smtClean="0"/>
            </a:br>
            <a:r>
              <a:rPr lang="en-US" altLang="ja-JP" sz="2263" b="1" dirty="0" smtClean="0"/>
              <a:t>Blender</a:t>
            </a:r>
            <a:r>
              <a:rPr lang="ja-JP" altLang="en-US" sz="2263" b="1" dirty="0" smtClean="0"/>
              <a:t>は作成したモデルを</a:t>
            </a:r>
            <a:r>
              <a:rPr lang="en-US" altLang="ja-JP" sz="2263" b="1" dirty="0" err="1" smtClean="0"/>
              <a:t>fbx</a:t>
            </a:r>
            <a:r>
              <a:rPr lang="ja-JP" altLang="en-US" sz="2263" b="1" dirty="0" smtClean="0"/>
              <a:t>に変換できるので</a:t>
            </a:r>
            <a:r>
              <a:rPr lang="en-US" altLang="ja-JP" sz="2263" b="1" dirty="0" smtClean="0"/>
              <a:t/>
            </a:r>
            <a:br>
              <a:rPr lang="en-US" altLang="ja-JP" sz="2263" b="1" dirty="0" smtClean="0"/>
            </a:br>
            <a:r>
              <a:rPr lang="ja-JP" altLang="en-US" sz="2263" b="1" dirty="0" smtClean="0"/>
              <a:t>自作モデルを取り入れることも出来る。</a:t>
            </a:r>
            <a:endParaRPr lang="ja-JP" altLang="en-US" sz="2263" b="1" dirty="0"/>
          </a:p>
        </p:txBody>
      </p:sp>
      <p:sp>
        <p:nvSpPr>
          <p:cNvPr id="16" name="Text Box 5"/>
          <p:cNvSpPr txBox="1">
            <a:spLocks noChangeArrowheads="1"/>
          </p:cNvSpPr>
          <p:nvPr/>
        </p:nvSpPr>
        <p:spPr bwMode="auto">
          <a:xfrm>
            <a:off x="547936" y="260648"/>
            <a:ext cx="3880048" cy="440570"/>
          </a:xfrm>
          <a:prstGeom prst="rect">
            <a:avLst/>
          </a:prstGeom>
          <a:ln/>
          <a:extLst/>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方法③　</a:t>
            </a:r>
            <a:r>
              <a:rPr lang="en-US" altLang="ja-JP" sz="2263" b="1" dirty="0" err="1" smtClean="0"/>
              <a:t>fbx</a:t>
            </a:r>
            <a:r>
              <a:rPr lang="ja-JP" altLang="en-US" sz="2263" b="1" dirty="0" smtClean="0"/>
              <a:t>を直接取り込み</a:t>
            </a:r>
            <a:endParaRPr lang="ja-JP" altLang="en-US" sz="2263" b="1" dirty="0"/>
          </a:p>
        </p:txBody>
      </p:sp>
      <p:sp>
        <p:nvSpPr>
          <p:cNvPr id="23" name="角丸四角形吹き出し 13">
            <a:extLst>
              <a:ext uri="{FF2B5EF4-FFF2-40B4-BE49-F238E27FC236}">
                <a16:creationId xmlns:a16="http://schemas.microsoft.com/office/drawing/2014/main" id="{6727C8B8-9F2B-E89A-BA81-4C8B1F7F7B82}"/>
              </a:ext>
            </a:extLst>
          </p:cNvPr>
          <p:cNvSpPr/>
          <p:nvPr/>
        </p:nvSpPr>
        <p:spPr>
          <a:xfrm>
            <a:off x="3368659" y="4784603"/>
            <a:ext cx="5688632" cy="1380701"/>
          </a:xfrm>
          <a:prstGeom prst="wedgeRoundRectCallout">
            <a:avLst>
              <a:gd name="adj1" fmla="val -64131"/>
              <a:gd name="adj2" fmla="val -14238"/>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とはいえ、取得したデータが全てすぐに</a:t>
            </a:r>
            <a:r>
              <a:rPr lang="en-US" altLang="ja-JP" sz="2000" b="1" dirty="0" smtClean="0"/>
              <a:t/>
            </a:r>
            <a:br>
              <a:rPr lang="en-US" altLang="ja-JP" sz="2000" b="1" dirty="0" smtClean="0"/>
            </a:br>
            <a:r>
              <a:rPr lang="ja-JP" altLang="en-US" sz="2000" b="1" dirty="0" smtClean="0"/>
              <a:t>使えるとは限りません・・・</a:t>
            </a:r>
            <a:r>
              <a:rPr lang="en-US" altLang="ja-JP" sz="2000" b="1" dirty="0" smtClean="0"/>
              <a:t/>
            </a:r>
            <a:br>
              <a:rPr lang="en-US" altLang="ja-JP" sz="2000" b="1" dirty="0" smtClean="0"/>
            </a:br>
            <a:r>
              <a:rPr lang="ja-JP" altLang="en-US" sz="2000" b="1" dirty="0" smtClean="0"/>
              <a:t>上手く表示されなかった場合は</a:t>
            </a:r>
            <a:r>
              <a:rPr lang="en-US" altLang="ja-JP" sz="2000" b="1" dirty="0" smtClean="0"/>
              <a:t/>
            </a:r>
            <a:br>
              <a:rPr lang="en-US" altLang="ja-JP" sz="2000" b="1" dirty="0" smtClean="0"/>
            </a:br>
            <a:r>
              <a:rPr lang="ja-JP" altLang="en-US" sz="2000" b="1" dirty="0" smtClean="0"/>
              <a:t>頑張って原因を探しましょう。</a:t>
            </a:r>
            <a:endParaRPr lang="ja-JP" altLang="en-US" sz="2000" b="1" dirty="0"/>
          </a:p>
        </p:txBody>
      </p:sp>
      <p:sp>
        <p:nvSpPr>
          <p:cNvPr id="7" name="右矢印 6"/>
          <p:cNvSpPr/>
          <p:nvPr/>
        </p:nvSpPr>
        <p:spPr>
          <a:xfrm>
            <a:off x="3346197" y="2399877"/>
            <a:ext cx="892063" cy="8712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ext Box 5"/>
          <p:cNvSpPr txBox="1">
            <a:spLocks noChangeArrowheads="1"/>
          </p:cNvSpPr>
          <p:nvPr/>
        </p:nvSpPr>
        <p:spPr bwMode="auto">
          <a:xfrm>
            <a:off x="389677" y="3285531"/>
            <a:ext cx="2956520"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取得したデータを</a:t>
            </a:r>
            <a:endParaRPr lang="ja-JP" altLang="en-US" sz="2263" b="1" dirty="0"/>
          </a:p>
        </p:txBody>
      </p:sp>
      <p:sp>
        <p:nvSpPr>
          <p:cNvPr id="18" name="Text Box 5"/>
          <p:cNvSpPr txBox="1">
            <a:spLocks noChangeArrowheads="1"/>
          </p:cNvSpPr>
          <p:nvPr/>
        </p:nvSpPr>
        <p:spPr bwMode="auto">
          <a:xfrm>
            <a:off x="4644008" y="4005064"/>
            <a:ext cx="4392488"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ドラッグ＆ドロップするだけ！</a:t>
            </a:r>
            <a:endParaRPr lang="ja-JP" altLang="en-US" sz="2263" b="1" dirty="0"/>
          </a:p>
        </p:txBody>
      </p:sp>
      <p:pic>
        <p:nvPicPr>
          <p:cNvPr id="2" name="図 1"/>
          <p:cNvPicPr>
            <a:picLocks noChangeAspect="1"/>
          </p:cNvPicPr>
          <p:nvPr/>
        </p:nvPicPr>
        <p:blipFill>
          <a:blip r:embed="rId4"/>
          <a:stretch>
            <a:fillRect/>
          </a:stretch>
        </p:blipFill>
        <p:spPr>
          <a:xfrm>
            <a:off x="971600" y="2086150"/>
            <a:ext cx="1684149" cy="1211074"/>
          </a:xfrm>
          <a:prstGeom prst="rect">
            <a:avLst/>
          </a:prstGeom>
        </p:spPr>
      </p:pic>
      <p:pic>
        <p:nvPicPr>
          <p:cNvPr id="5" name="図 4"/>
          <p:cNvPicPr>
            <a:picLocks noChangeAspect="1"/>
          </p:cNvPicPr>
          <p:nvPr/>
        </p:nvPicPr>
        <p:blipFill>
          <a:blip r:embed="rId5"/>
          <a:stretch>
            <a:fillRect/>
          </a:stretch>
        </p:blipFill>
        <p:spPr>
          <a:xfrm>
            <a:off x="4716016" y="2039637"/>
            <a:ext cx="4010025" cy="1790700"/>
          </a:xfrm>
          <a:prstGeom prst="rect">
            <a:avLst/>
          </a:prstGeom>
        </p:spPr>
      </p:pic>
    </p:spTree>
    <p:extLst>
      <p:ext uri="{BB962C8B-B14F-4D97-AF65-F5344CB8AC3E}">
        <p14:creationId xmlns:p14="http://schemas.microsoft.com/office/powerpoint/2010/main" val="15824834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3"/>
          <a:stretch>
            <a:fillRect/>
          </a:stretch>
        </p:blipFill>
        <p:spPr>
          <a:xfrm>
            <a:off x="4535997" y="799133"/>
            <a:ext cx="4057650" cy="2362200"/>
          </a:xfrm>
          <a:prstGeom prst="rect">
            <a:avLst/>
          </a:prstGeom>
        </p:spPr>
      </p:pic>
      <p:sp>
        <p:nvSpPr>
          <p:cNvPr id="2052" name="Text Box 5"/>
          <p:cNvSpPr txBox="1">
            <a:spLocks noChangeArrowheads="1"/>
          </p:cNvSpPr>
          <p:nvPr/>
        </p:nvSpPr>
        <p:spPr bwMode="auto">
          <a:xfrm>
            <a:off x="180975" y="332656"/>
            <a:ext cx="774065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smtClean="0"/>
              <a:t>[</a:t>
            </a:r>
            <a:r>
              <a:rPr lang="ja-JP" altLang="en-US" sz="2263" b="1" dirty="0" smtClean="0"/>
              <a:t>アニメーションクリップとは</a:t>
            </a:r>
            <a:r>
              <a:rPr lang="en-US" altLang="ja-JP" sz="2263" b="1" dirty="0" smtClean="0"/>
              <a:t>]</a:t>
            </a:r>
            <a:endParaRPr lang="ja-JP" altLang="en-US" sz="2263" b="1" dirty="0"/>
          </a:p>
        </p:txBody>
      </p:sp>
      <p:sp>
        <p:nvSpPr>
          <p:cNvPr id="13" name="Text Box 5"/>
          <p:cNvSpPr txBox="1">
            <a:spLocks noChangeArrowheads="1"/>
          </p:cNvSpPr>
          <p:nvPr/>
        </p:nvSpPr>
        <p:spPr bwMode="auto">
          <a:xfrm>
            <a:off x="395536" y="1364209"/>
            <a:ext cx="3960439"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en-US" altLang="ja-JP" sz="2263" b="1" dirty="0" smtClean="0"/>
              <a:t>Unity</a:t>
            </a:r>
            <a:r>
              <a:rPr lang="ja-JP" altLang="en-US" sz="2263" b="1" dirty="0" err="1" smtClean="0"/>
              <a:t>ちゃんの</a:t>
            </a:r>
            <a:r>
              <a:rPr lang="ja-JP" altLang="en-US" sz="2263" b="1" dirty="0" smtClean="0"/>
              <a:t>データ内には、</a:t>
            </a:r>
            <a:r>
              <a:rPr lang="en-US" altLang="ja-JP" sz="2263" b="1" dirty="0" smtClean="0"/>
              <a:t/>
            </a:r>
            <a:br>
              <a:rPr lang="en-US" altLang="ja-JP" sz="2263" b="1" dirty="0" smtClean="0"/>
            </a:br>
            <a:r>
              <a:rPr lang="ja-JP" altLang="en-US" sz="2263" b="1" dirty="0" smtClean="0"/>
              <a:t>アニメーションデータが</a:t>
            </a:r>
            <a:r>
              <a:rPr lang="en-US" altLang="ja-JP" sz="2263" b="1" dirty="0" smtClean="0"/>
              <a:t/>
            </a:r>
            <a:br>
              <a:rPr lang="en-US" altLang="ja-JP" sz="2263" b="1" dirty="0" smtClean="0"/>
            </a:br>
            <a:r>
              <a:rPr lang="ja-JP" altLang="en-US" sz="2263" b="1" dirty="0" smtClean="0"/>
              <a:t>複数用意されている。</a:t>
            </a:r>
            <a:endParaRPr lang="ja-JP" altLang="en-US" sz="2263" b="1" dirty="0"/>
          </a:p>
        </p:txBody>
      </p:sp>
      <p:sp>
        <p:nvSpPr>
          <p:cNvPr id="7" name="正方形/長方形 6">
            <a:extLst>
              <a:ext uri="{FF2B5EF4-FFF2-40B4-BE49-F238E27FC236}">
                <a16:creationId xmlns:a16="http://schemas.microsoft.com/office/drawing/2014/main" id="{FD4F508C-0ED1-4AA4-A6D9-169B3E6AC7AC}"/>
              </a:ext>
            </a:extLst>
          </p:cNvPr>
          <p:cNvSpPr/>
          <p:nvPr/>
        </p:nvSpPr>
        <p:spPr>
          <a:xfrm>
            <a:off x="6430327" y="2085221"/>
            <a:ext cx="2163319" cy="119976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矢印: 右 4">
            <a:extLst>
              <a:ext uri="{FF2B5EF4-FFF2-40B4-BE49-F238E27FC236}">
                <a16:creationId xmlns:a16="http://schemas.microsoft.com/office/drawing/2014/main" id="{EA4399BB-364C-4674-1BD0-896A60A8466C}"/>
              </a:ext>
            </a:extLst>
          </p:cNvPr>
          <p:cNvSpPr/>
          <p:nvPr/>
        </p:nvSpPr>
        <p:spPr>
          <a:xfrm>
            <a:off x="4224098" y="2790441"/>
            <a:ext cx="2033150" cy="7920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4DC12509-20AB-9E43-446F-D3A7F2FB3019}"/>
              </a:ext>
            </a:extLst>
          </p:cNvPr>
          <p:cNvSpPr/>
          <p:nvPr/>
        </p:nvSpPr>
        <p:spPr>
          <a:xfrm>
            <a:off x="4932040" y="2132856"/>
            <a:ext cx="1152128" cy="504056"/>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Text Box 5">
            <a:extLst>
              <a:ext uri="{FF2B5EF4-FFF2-40B4-BE49-F238E27FC236}">
                <a16:creationId xmlns:a16="http://schemas.microsoft.com/office/drawing/2014/main" id="{1D53889A-9447-C28C-99BA-EDF19C485DD4}"/>
              </a:ext>
            </a:extLst>
          </p:cNvPr>
          <p:cNvSpPr txBox="1">
            <a:spLocks noChangeArrowheads="1"/>
          </p:cNvSpPr>
          <p:nvPr/>
        </p:nvSpPr>
        <p:spPr bwMode="auto">
          <a:xfrm>
            <a:off x="518199" y="2697077"/>
            <a:ext cx="3696687"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このデータを</a:t>
            </a:r>
            <a:r>
              <a:rPr lang="en-US" altLang="ja-JP" sz="2263" b="1" dirty="0" smtClean="0"/>
              <a:t/>
            </a:r>
            <a:br>
              <a:rPr lang="en-US" altLang="ja-JP" sz="2263" b="1" dirty="0" smtClean="0"/>
            </a:br>
            <a:r>
              <a:rPr lang="ja-JP" altLang="en-US" sz="2263" b="1" dirty="0" smtClean="0">
                <a:solidFill>
                  <a:srgbClr val="FF66CC"/>
                </a:solidFill>
              </a:rPr>
              <a:t>アニメーションクリップ</a:t>
            </a:r>
            <a:r>
              <a:rPr lang="ja-JP" altLang="en-US" sz="2263" b="1" dirty="0" smtClean="0"/>
              <a:t>と呼ぶ</a:t>
            </a:r>
            <a:endParaRPr lang="ja-JP" altLang="en-US" sz="2263" b="1" dirty="0"/>
          </a:p>
        </p:txBody>
      </p:sp>
      <p:sp>
        <p:nvSpPr>
          <p:cNvPr id="18" name="Text Box 5">
            <a:extLst>
              <a:ext uri="{FF2B5EF4-FFF2-40B4-BE49-F238E27FC236}">
                <a16:creationId xmlns:a16="http://schemas.microsoft.com/office/drawing/2014/main" id="{1D53889A-9447-C28C-99BA-EDF19C485DD4}"/>
              </a:ext>
            </a:extLst>
          </p:cNvPr>
          <p:cNvSpPr txBox="1">
            <a:spLocks noChangeArrowheads="1"/>
          </p:cNvSpPr>
          <p:nvPr/>
        </p:nvSpPr>
        <p:spPr bwMode="auto">
          <a:xfrm>
            <a:off x="574990" y="3970635"/>
            <a:ext cx="8043229"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アニメーションクリップを選択すると、</a:t>
            </a:r>
            <a:r>
              <a:rPr lang="en-US" altLang="ja-JP" sz="2263" b="1" dirty="0" smtClean="0"/>
              <a:t/>
            </a:r>
            <a:br>
              <a:rPr lang="en-US" altLang="ja-JP" sz="2263" b="1" dirty="0" smtClean="0"/>
            </a:br>
            <a:r>
              <a:rPr lang="ja-JP" altLang="en-US" sz="2263" b="1" dirty="0" smtClean="0"/>
              <a:t>次の方法でアニメーション内容を確認できる。</a:t>
            </a:r>
            <a:endParaRPr lang="ja-JP" altLang="en-US" sz="2263" b="1" dirty="0"/>
          </a:p>
        </p:txBody>
      </p:sp>
      <p:pic>
        <p:nvPicPr>
          <p:cNvPr id="9" name="図 8"/>
          <p:cNvPicPr>
            <a:picLocks noChangeAspect="1"/>
          </p:cNvPicPr>
          <p:nvPr/>
        </p:nvPicPr>
        <p:blipFill>
          <a:blip r:embed="rId4"/>
          <a:stretch>
            <a:fillRect/>
          </a:stretch>
        </p:blipFill>
        <p:spPr>
          <a:xfrm>
            <a:off x="827584" y="4977879"/>
            <a:ext cx="2399778" cy="1700156"/>
          </a:xfrm>
          <a:prstGeom prst="rect">
            <a:avLst/>
          </a:prstGeom>
        </p:spPr>
      </p:pic>
      <p:sp>
        <p:nvSpPr>
          <p:cNvPr id="22" name="Text Box 5">
            <a:extLst>
              <a:ext uri="{FF2B5EF4-FFF2-40B4-BE49-F238E27FC236}">
                <a16:creationId xmlns:a16="http://schemas.microsoft.com/office/drawing/2014/main" id="{404010F1-4413-B7D0-E4AE-F8FE546A4879}"/>
              </a:ext>
            </a:extLst>
          </p:cNvPr>
          <p:cNvSpPr txBox="1">
            <a:spLocks noChangeArrowheads="1"/>
          </p:cNvSpPr>
          <p:nvPr/>
        </p:nvSpPr>
        <p:spPr bwMode="auto">
          <a:xfrm>
            <a:off x="3347864" y="5177793"/>
            <a:ext cx="5621995"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smtClean="0"/>
              <a:t>①確認したいアニメーションクリップを選択し、</a:t>
            </a:r>
            <a:r>
              <a:rPr lang="en-US" altLang="ja-JP" sz="2263" b="1" dirty="0" smtClean="0"/>
              <a:t/>
            </a:r>
            <a:br>
              <a:rPr lang="en-US" altLang="ja-JP" sz="2263" b="1" dirty="0" smtClean="0"/>
            </a:br>
            <a:r>
              <a:rPr lang="ja-JP" altLang="en-US" sz="2263" b="1" dirty="0" smtClean="0"/>
              <a:t>　 インスペクター内で「</a:t>
            </a:r>
            <a:r>
              <a:rPr lang="en-US" altLang="ja-JP" sz="2263" b="1" dirty="0" smtClean="0">
                <a:solidFill>
                  <a:srgbClr val="0070C0"/>
                </a:solidFill>
              </a:rPr>
              <a:t>Animation</a:t>
            </a:r>
            <a:r>
              <a:rPr lang="ja-JP" altLang="en-US" sz="2263" b="1" dirty="0" smtClean="0"/>
              <a:t>」が</a:t>
            </a:r>
            <a:r>
              <a:rPr lang="en-US" altLang="ja-JP" sz="2263" b="1" dirty="0" smtClean="0"/>
              <a:t/>
            </a:r>
            <a:br>
              <a:rPr lang="en-US" altLang="ja-JP" sz="2263" b="1" dirty="0" smtClean="0"/>
            </a:br>
            <a:r>
              <a:rPr lang="ja-JP" altLang="en-US" sz="2263" b="1" dirty="0" smtClean="0"/>
              <a:t>　 </a:t>
            </a:r>
            <a:r>
              <a:rPr lang="ja-JP" altLang="en-US" sz="2263" b="1" dirty="0"/>
              <a:t>選択されていることを確認</a:t>
            </a:r>
            <a:r>
              <a:rPr lang="ja-JP" altLang="en-US" sz="2263" b="1" dirty="0" smtClean="0"/>
              <a:t>する。</a:t>
            </a:r>
            <a:endParaRPr lang="ja-JP" altLang="en-US" sz="2263" b="1" dirty="0"/>
          </a:p>
        </p:txBody>
      </p:sp>
      <p:sp>
        <p:nvSpPr>
          <p:cNvPr id="23" name="正方形/長方形 22">
            <a:extLst>
              <a:ext uri="{FF2B5EF4-FFF2-40B4-BE49-F238E27FC236}">
                <a16:creationId xmlns:a16="http://schemas.microsoft.com/office/drawing/2014/main" id="{4DC12509-20AB-9E43-446F-D3A7F2FB3019}"/>
              </a:ext>
            </a:extLst>
          </p:cNvPr>
          <p:cNvSpPr/>
          <p:nvPr/>
        </p:nvSpPr>
        <p:spPr>
          <a:xfrm>
            <a:off x="2123727" y="5877272"/>
            <a:ext cx="648073" cy="351552"/>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267831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8DC7-5E8A-FC28-A16F-F653F7719218}"/>
            </a:ext>
          </a:extLst>
        </p:cNvPr>
        <p:cNvGrpSpPr/>
        <p:nvPr/>
      </p:nvGrpSpPr>
      <p:grpSpPr>
        <a:xfrm>
          <a:off x="0" y="0"/>
          <a:ext cx="0" cy="0"/>
          <a:chOff x="0" y="0"/>
          <a:chExt cx="0" cy="0"/>
        </a:xfrm>
      </p:grpSpPr>
      <p:pic>
        <p:nvPicPr>
          <p:cNvPr id="2" name="図 1"/>
          <p:cNvPicPr>
            <a:picLocks noChangeAspect="1"/>
          </p:cNvPicPr>
          <p:nvPr/>
        </p:nvPicPr>
        <p:blipFill>
          <a:blip r:embed="rId3"/>
          <a:stretch>
            <a:fillRect/>
          </a:stretch>
        </p:blipFill>
        <p:spPr>
          <a:xfrm>
            <a:off x="5004048" y="543496"/>
            <a:ext cx="3472688" cy="2592288"/>
          </a:xfrm>
          <a:prstGeom prst="rect">
            <a:avLst/>
          </a:prstGeom>
        </p:spPr>
      </p:pic>
      <p:sp>
        <p:nvSpPr>
          <p:cNvPr id="5" name="Text Box 5">
            <a:extLst>
              <a:ext uri="{FF2B5EF4-FFF2-40B4-BE49-F238E27FC236}">
                <a16:creationId xmlns:a16="http://schemas.microsoft.com/office/drawing/2014/main" id="{A747CA87-3B93-3C08-9B27-5C38CC98E618}"/>
              </a:ext>
            </a:extLst>
          </p:cNvPr>
          <p:cNvSpPr txBox="1">
            <a:spLocks noChangeArrowheads="1"/>
          </p:cNvSpPr>
          <p:nvPr/>
        </p:nvSpPr>
        <p:spPr bwMode="auto">
          <a:xfrm>
            <a:off x="1" y="382034"/>
            <a:ext cx="5148064" cy="2181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smtClean="0"/>
              <a:t>②インスペクター下部の</a:t>
            </a:r>
            <a:r>
              <a:rPr lang="ja-JP" altLang="en-US" sz="2263" b="1" dirty="0" smtClean="0">
                <a:solidFill>
                  <a:srgbClr val="FF0000"/>
                </a:solidFill>
              </a:rPr>
              <a:t>ココ</a:t>
            </a:r>
            <a:r>
              <a:rPr lang="ja-JP" altLang="en-US" sz="2263" b="1" dirty="0" smtClean="0"/>
              <a:t>を</a:t>
            </a:r>
            <a:r>
              <a:rPr lang="en-US" altLang="ja-JP" sz="2263" b="1" dirty="0" smtClean="0"/>
              <a:t/>
            </a:r>
            <a:br>
              <a:rPr lang="en-US" altLang="ja-JP" sz="2263" b="1" dirty="0" smtClean="0"/>
            </a:br>
            <a:r>
              <a:rPr lang="ja-JP" altLang="en-US" sz="2263" b="1" dirty="0" smtClean="0"/>
              <a:t>　 </a:t>
            </a:r>
            <a:r>
              <a:rPr lang="ja-JP" altLang="en-US" sz="2263" b="1" dirty="0"/>
              <a:t>クリックして</a:t>
            </a:r>
            <a:r>
              <a:rPr lang="ja-JP" altLang="en-US" sz="2263" b="1" dirty="0" smtClean="0"/>
              <a:t>、「</a:t>
            </a:r>
            <a:r>
              <a:rPr lang="ja-JP" altLang="en-US" sz="2263" b="1" dirty="0" smtClean="0">
                <a:solidFill>
                  <a:srgbClr val="0070C0"/>
                </a:solidFill>
              </a:rPr>
              <a:t>その他</a:t>
            </a:r>
            <a:r>
              <a:rPr lang="ja-JP" altLang="en-US" sz="2263" b="1" dirty="0" smtClean="0"/>
              <a:t>」を選択。</a:t>
            </a:r>
            <a:r>
              <a:rPr lang="en-US" altLang="ja-JP" sz="2263" b="1" dirty="0" smtClean="0"/>
              <a:t/>
            </a:r>
            <a:br>
              <a:rPr lang="en-US" altLang="ja-JP" sz="2263" b="1" dirty="0" smtClean="0"/>
            </a:br>
            <a:r>
              <a:rPr lang="en-US" altLang="ja-JP" sz="2263" b="1" dirty="0" smtClean="0"/>
              <a:t> </a:t>
            </a:r>
            <a:r>
              <a:rPr lang="ja-JP" altLang="en-US" sz="2263" b="1" dirty="0" smtClean="0"/>
              <a:t>　</a:t>
            </a:r>
            <a:r>
              <a:rPr lang="ja-JP" altLang="en-US" sz="2263" b="1" dirty="0"/>
              <a:t>プロジェクト内にあるモデル</a:t>
            </a:r>
            <a:r>
              <a:rPr lang="ja-JP" altLang="en-US" sz="2263" b="1" dirty="0" smtClean="0"/>
              <a:t>が</a:t>
            </a:r>
            <a:r>
              <a:rPr lang="en-US" altLang="ja-JP" sz="2263" b="1" dirty="0" smtClean="0"/>
              <a:t/>
            </a:r>
            <a:br>
              <a:rPr lang="en-US" altLang="ja-JP" sz="2263" b="1" dirty="0" smtClean="0"/>
            </a:br>
            <a:r>
              <a:rPr lang="ja-JP" altLang="en-US" sz="2263" b="1" dirty="0" smtClean="0"/>
              <a:t>　</a:t>
            </a:r>
            <a:r>
              <a:rPr lang="ja-JP" altLang="en-US" sz="2263" b="1" dirty="0"/>
              <a:t>一覧で</a:t>
            </a:r>
            <a:r>
              <a:rPr lang="ja-JP" altLang="en-US" sz="2263" b="1" dirty="0" smtClean="0"/>
              <a:t>表示されるようになるので</a:t>
            </a:r>
            <a:r>
              <a:rPr lang="en-US" altLang="ja-JP" sz="2263" b="1" dirty="0" smtClean="0"/>
              <a:t/>
            </a:r>
            <a:br>
              <a:rPr lang="en-US" altLang="ja-JP" sz="2263" b="1" dirty="0" smtClean="0"/>
            </a:br>
            <a:r>
              <a:rPr lang="ja-JP" altLang="en-US" sz="2263" b="1" dirty="0" smtClean="0"/>
              <a:t>　 </a:t>
            </a:r>
            <a:r>
              <a:rPr lang="en-US" altLang="ja-JP" sz="2263" b="1" dirty="0" smtClean="0"/>
              <a:t>Unity</a:t>
            </a:r>
            <a:r>
              <a:rPr lang="ja-JP" altLang="en-US" sz="2263" b="1" dirty="0" err="1" smtClean="0"/>
              <a:t>ちゃんの</a:t>
            </a:r>
            <a:r>
              <a:rPr lang="ja-JP" altLang="en-US" sz="2263" b="1" dirty="0" smtClean="0"/>
              <a:t>モデルを</a:t>
            </a:r>
            <a:r>
              <a:rPr lang="en-US" altLang="ja-JP" sz="2263" b="1" dirty="0" smtClean="0"/>
              <a:t/>
            </a:r>
            <a:br>
              <a:rPr lang="en-US" altLang="ja-JP" sz="2263" b="1" dirty="0" smtClean="0"/>
            </a:br>
            <a:r>
              <a:rPr lang="ja-JP" altLang="en-US" sz="2263" b="1" dirty="0" smtClean="0"/>
              <a:t>　 選択する。</a:t>
            </a:r>
            <a:endParaRPr lang="ja-JP" altLang="en-US" sz="2263" b="1" dirty="0"/>
          </a:p>
        </p:txBody>
      </p:sp>
      <p:sp>
        <p:nvSpPr>
          <p:cNvPr id="12" name="正方形/長方形 11">
            <a:extLst>
              <a:ext uri="{FF2B5EF4-FFF2-40B4-BE49-F238E27FC236}">
                <a16:creationId xmlns:a16="http://schemas.microsoft.com/office/drawing/2014/main" id="{AFC417A6-A8CB-633D-2C3D-CD0FCFF3E569}"/>
              </a:ext>
            </a:extLst>
          </p:cNvPr>
          <p:cNvSpPr/>
          <p:nvPr/>
        </p:nvSpPr>
        <p:spPr>
          <a:xfrm>
            <a:off x="7956376" y="488404"/>
            <a:ext cx="432048" cy="28803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Text Box 5">
            <a:extLst>
              <a:ext uri="{FF2B5EF4-FFF2-40B4-BE49-F238E27FC236}">
                <a16:creationId xmlns:a16="http://schemas.microsoft.com/office/drawing/2014/main" id="{880D42C9-C248-7FBA-0DED-86320D3CF9B8}"/>
              </a:ext>
            </a:extLst>
          </p:cNvPr>
          <p:cNvSpPr txBox="1">
            <a:spLocks noChangeArrowheads="1"/>
          </p:cNvSpPr>
          <p:nvPr/>
        </p:nvSpPr>
        <p:spPr bwMode="auto">
          <a:xfrm>
            <a:off x="4392583" y="4620884"/>
            <a:ext cx="4695618"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smtClean="0"/>
              <a:t>③再生ボタンを選択して</a:t>
            </a:r>
            <a:r>
              <a:rPr lang="en-US" altLang="ja-JP" sz="2263" b="1" dirty="0" smtClean="0"/>
              <a:t/>
            </a:r>
            <a:br>
              <a:rPr lang="en-US" altLang="ja-JP" sz="2263" b="1" dirty="0" smtClean="0"/>
            </a:br>
            <a:r>
              <a:rPr lang="ja-JP" altLang="en-US" sz="2263" b="1" dirty="0" smtClean="0"/>
              <a:t>　 アニメーションを確認しよう！</a:t>
            </a:r>
            <a:endParaRPr lang="ja-JP" altLang="en-US" sz="2263" b="1" dirty="0"/>
          </a:p>
        </p:txBody>
      </p:sp>
      <p:cxnSp>
        <p:nvCxnSpPr>
          <p:cNvPr id="10" name="直線矢印コネクタ 9">
            <a:extLst>
              <a:ext uri="{FF2B5EF4-FFF2-40B4-BE49-F238E27FC236}">
                <a16:creationId xmlns:a16="http://schemas.microsoft.com/office/drawing/2014/main" id="{7BEF2B0B-5005-26D1-DFB8-EF9DC3542C4A}"/>
              </a:ext>
            </a:extLst>
          </p:cNvPr>
          <p:cNvCxnSpPr>
            <a:cxnSpLocks/>
          </p:cNvCxnSpPr>
          <p:nvPr/>
        </p:nvCxnSpPr>
        <p:spPr>
          <a:xfrm>
            <a:off x="3851920" y="632420"/>
            <a:ext cx="4016144"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角丸四角形吹き出し 13">
            <a:extLst>
              <a:ext uri="{FF2B5EF4-FFF2-40B4-BE49-F238E27FC236}">
                <a16:creationId xmlns:a16="http://schemas.microsoft.com/office/drawing/2014/main" id="{6727C8B8-9F2B-E89A-BA81-4C8B1F7F7B82}"/>
              </a:ext>
            </a:extLst>
          </p:cNvPr>
          <p:cNvSpPr/>
          <p:nvPr/>
        </p:nvSpPr>
        <p:spPr>
          <a:xfrm>
            <a:off x="3491880" y="2720228"/>
            <a:ext cx="4296545" cy="1028381"/>
          </a:xfrm>
          <a:prstGeom prst="wedgeRoundRectCallout">
            <a:avLst>
              <a:gd name="adj1" fmla="val 27681"/>
              <a:gd name="adj2" fmla="val -80862"/>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首だけの私だと、</a:t>
            </a:r>
            <a:r>
              <a:rPr lang="en-US" altLang="ja-JP" sz="2000" b="1" dirty="0" smtClean="0"/>
              <a:t/>
            </a:r>
            <a:br>
              <a:rPr lang="en-US" altLang="ja-JP" sz="2000" b="1" dirty="0" smtClean="0"/>
            </a:br>
            <a:r>
              <a:rPr lang="ja-JP" altLang="en-US" sz="2000" b="1" dirty="0" smtClean="0"/>
              <a:t>アニメーションの確認が難しいです。</a:t>
            </a:r>
            <a:r>
              <a:rPr lang="en-US" altLang="ja-JP" sz="2000" b="1" dirty="0" smtClean="0"/>
              <a:t/>
            </a:r>
            <a:br>
              <a:rPr lang="en-US" altLang="ja-JP" sz="2000" b="1" dirty="0" smtClean="0"/>
            </a:br>
            <a:r>
              <a:rPr lang="ja-JP" altLang="en-US" sz="2000" b="1" dirty="0" smtClean="0"/>
              <a:t>表示されるモデルを変えましょう。</a:t>
            </a:r>
            <a:endParaRPr lang="ja-JP" altLang="en-US" sz="2000" b="1" dirty="0"/>
          </a:p>
        </p:txBody>
      </p:sp>
      <p:pic>
        <p:nvPicPr>
          <p:cNvPr id="6" name="図 5"/>
          <p:cNvPicPr>
            <a:picLocks noChangeAspect="1"/>
          </p:cNvPicPr>
          <p:nvPr/>
        </p:nvPicPr>
        <p:blipFill>
          <a:blip r:embed="rId4"/>
          <a:stretch>
            <a:fillRect/>
          </a:stretch>
        </p:blipFill>
        <p:spPr>
          <a:xfrm>
            <a:off x="395536" y="4001399"/>
            <a:ext cx="3764417" cy="2823313"/>
          </a:xfrm>
          <a:prstGeom prst="rect">
            <a:avLst/>
          </a:prstGeom>
        </p:spPr>
      </p:pic>
      <p:sp>
        <p:nvSpPr>
          <p:cNvPr id="14" name="正方形/長方形 13">
            <a:extLst>
              <a:ext uri="{FF2B5EF4-FFF2-40B4-BE49-F238E27FC236}">
                <a16:creationId xmlns:a16="http://schemas.microsoft.com/office/drawing/2014/main" id="{AFC417A6-A8CB-633D-2C3D-CD0FCFF3E569}"/>
              </a:ext>
            </a:extLst>
          </p:cNvPr>
          <p:cNvSpPr/>
          <p:nvPr/>
        </p:nvSpPr>
        <p:spPr>
          <a:xfrm>
            <a:off x="359627" y="4147179"/>
            <a:ext cx="323941" cy="28803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018923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3"/>
          <a:stretch>
            <a:fillRect/>
          </a:stretch>
        </p:blipFill>
        <p:spPr>
          <a:xfrm>
            <a:off x="1562202" y="5176066"/>
            <a:ext cx="5616624" cy="1402412"/>
          </a:xfrm>
          <a:prstGeom prst="rect">
            <a:avLst/>
          </a:prstGeom>
        </p:spPr>
      </p:pic>
      <p:sp>
        <p:nvSpPr>
          <p:cNvPr id="2052" name="Text Box 5"/>
          <p:cNvSpPr txBox="1">
            <a:spLocks noChangeArrowheads="1"/>
          </p:cNvSpPr>
          <p:nvPr/>
        </p:nvSpPr>
        <p:spPr bwMode="auto">
          <a:xfrm>
            <a:off x="180975" y="332656"/>
            <a:ext cx="774065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smtClean="0"/>
              <a:t>[</a:t>
            </a:r>
            <a:r>
              <a:rPr lang="ja-JP" altLang="en-US" sz="2263" b="1" dirty="0" smtClean="0"/>
              <a:t>アニメーションコントローラとは</a:t>
            </a:r>
            <a:r>
              <a:rPr lang="en-US" altLang="ja-JP" sz="2263" b="1" dirty="0" smtClean="0"/>
              <a:t>]</a:t>
            </a:r>
            <a:endParaRPr lang="ja-JP" altLang="en-US" sz="2263" b="1" dirty="0"/>
          </a:p>
        </p:txBody>
      </p:sp>
      <p:sp>
        <p:nvSpPr>
          <p:cNvPr id="13" name="Text Box 5"/>
          <p:cNvSpPr txBox="1">
            <a:spLocks noChangeArrowheads="1"/>
          </p:cNvSpPr>
          <p:nvPr/>
        </p:nvSpPr>
        <p:spPr bwMode="auto">
          <a:xfrm>
            <a:off x="683568" y="753437"/>
            <a:ext cx="8136904"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solidFill>
                  <a:srgbClr val="00B0F0"/>
                </a:solidFill>
              </a:rPr>
              <a:t>複数のアニメーションを切り替える</a:t>
            </a:r>
            <a:r>
              <a:rPr lang="ja-JP" altLang="en-US" sz="2263" b="1" dirty="0" smtClean="0"/>
              <a:t>場合は、</a:t>
            </a:r>
            <a:r>
              <a:rPr lang="en-US" altLang="ja-JP" sz="2263" b="1" dirty="0" smtClean="0"/>
              <a:t/>
            </a:r>
            <a:br>
              <a:rPr lang="en-US" altLang="ja-JP" sz="2263" b="1" dirty="0" smtClean="0"/>
            </a:br>
            <a:r>
              <a:rPr lang="ja-JP" altLang="en-US" sz="2263" b="1" dirty="0" smtClean="0">
                <a:solidFill>
                  <a:srgbClr val="FF66CC"/>
                </a:solidFill>
              </a:rPr>
              <a:t>アニメーションコントローラ</a:t>
            </a:r>
            <a:r>
              <a:rPr lang="ja-JP" altLang="en-US" sz="2263" b="1" dirty="0" smtClean="0"/>
              <a:t>と呼ばれるものを利用する。</a:t>
            </a:r>
            <a:endParaRPr lang="ja-JP" altLang="en-US" sz="2263" b="1" dirty="0"/>
          </a:p>
        </p:txBody>
      </p:sp>
      <p:sp>
        <p:nvSpPr>
          <p:cNvPr id="7" name="正方形/長方形 6">
            <a:extLst>
              <a:ext uri="{FF2B5EF4-FFF2-40B4-BE49-F238E27FC236}">
                <a16:creationId xmlns:a16="http://schemas.microsoft.com/office/drawing/2014/main" id="{FD4F508C-0ED1-4AA4-A6D9-169B3E6AC7AC}"/>
              </a:ext>
            </a:extLst>
          </p:cNvPr>
          <p:cNvSpPr/>
          <p:nvPr/>
        </p:nvSpPr>
        <p:spPr>
          <a:xfrm>
            <a:off x="3915461" y="6139903"/>
            <a:ext cx="789796" cy="287845"/>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Text Box 5">
            <a:extLst>
              <a:ext uri="{FF2B5EF4-FFF2-40B4-BE49-F238E27FC236}">
                <a16:creationId xmlns:a16="http://schemas.microsoft.com/office/drawing/2014/main" id="{1D53889A-9447-C28C-99BA-EDF19C485DD4}"/>
              </a:ext>
            </a:extLst>
          </p:cNvPr>
          <p:cNvSpPr txBox="1">
            <a:spLocks noChangeArrowheads="1"/>
          </p:cNvSpPr>
          <p:nvPr/>
        </p:nvSpPr>
        <p:spPr bwMode="auto">
          <a:xfrm>
            <a:off x="574990" y="2496178"/>
            <a:ext cx="8043229"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実は</a:t>
            </a:r>
            <a:r>
              <a:rPr lang="en-US" altLang="ja-JP" sz="2263" b="1" dirty="0" smtClean="0"/>
              <a:t>2D</a:t>
            </a:r>
            <a:r>
              <a:rPr lang="ja-JP" altLang="en-US" sz="2263" b="1" dirty="0" smtClean="0"/>
              <a:t>でも</a:t>
            </a:r>
            <a:r>
              <a:rPr lang="en-US" altLang="ja-JP" sz="2263" b="1" dirty="0" smtClean="0"/>
              <a:t>3D</a:t>
            </a:r>
            <a:r>
              <a:rPr lang="ja-JP" altLang="en-US" sz="2263" b="1" dirty="0" smtClean="0"/>
              <a:t>でも仕組みは同じ。</a:t>
            </a:r>
            <a:r>
              <a:rPr lang="en-US" altLang="ja-JP" sz="2263" b="1" dirty="0" smtClean="0"/>
              <a:t/>
            </a:r>
            <a:br>
              <a:rPr lang="en-US" altLang="ja-JP" sz="2263" b="1" dirty="0" smtClean="0"/>
            </a:br>
            <a:r>
              <a:rPr lang="ja-JP" altLang="en-US" sz="2263" b="1" dirty="0" smtClean="0"/>
              <a:t>さっそく自作のアニメーションコントローラを作ってみよう！</a:t>
            </a:r>
            <a:endParaRPr lang="ja-JP" altLang="en-US" sz="2263" b="1" dirty="0"/>
          </a:p>
        </p:txBody>
      </p:sp>
      <p:sp>
        <p:nvSpPr>
          <p:cNvPr id="22" name="Text Box 5">
            <a:extLst>
              <a:ext uri="{FF2B5EF4-FFF2-40B4-BE49-F238E27FC236}">
                <a16:creationId xmlns:a16="http://schemas.microsoft.com/office/drawing/2014/main" id="{404010F1-4413-B7D0-E4AE-F8FE546A4879}"/>
              </a:ext>
            </a:extLst>
          </p:cNvPr>
          <p:cNvSpPr txBox="1">
            <a:spLocks noChangeArrowheads="1"/>
          </p:cNvSpPr>
          <p:nvPr/>
        </p:nvSpPr>
        <p:spPr bwMode="auto">
          <a:xfrm>
            <a:off x="395536" y="3870138"/>
            <a:ext cx="8222683"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smtClean="0"/>
              <a:t>①アニメーションコントローラを管理するフォルダ内で右クリックし、</a:t>
            </a:r>
            <a:r>
              <a:rPr lang="en-US" altLang="ja-JP" sz="2263" b="1" dirty="0" smtClean="0"/>
              <a:t/>
            </a:r>
            <a:br>
              <a:rPr lang="en-US" altLang="ja-JP" sz="2263" b="1" dirty="0" smtClean="0"/>
            </a:br>
            <a:r>
              <a:rPr lang="ja-JP" altLang="en-US" sz="2263" b="1" dirty="0" smtClean="0"/>
              <a:t>　 「作成」⇒「アニメーション」⇒「アニメーションコントローラ」を</a:t>
            </a:r>
            <a:r>
              <a:rPr lang="en-US" altLang="ja-JP" sz="2263" b="1" dirty="0" smtClean="0"/>
              <a:t/>
            </a:r>
            <a:br>
              <a:rPr lang="en-US" altLang="ja-JP" sz="2263" b="1" dirty="0" smtClean="0"/>
            </a:br>
            <a:r>
              <a:rPr lang="ja-JP" altLang="en-US" sz="2263" b="1" dirty="0" smtClean="0"/>
              <a:t>　 選択する。</a:t>
            </a:r>
            <a:endParaRPr lang="ja-JP" altLang="en-US" sz="2263" b="1" dirty="0"/>
          </a:p>
        </p:txBody>
      </p:sp>
      <p:sp>
        <p:nvSpPr>
          <p:cNvPr id="23" name="正方形/長方形 22">
            <a:extLst>
              <a:ext uri="{FF2B5EF4-FFF2-40B4-BE49-F238E27FC236}">
                <a16:creationId xmlns:a16="http://schemas.microsoft.com/office/drawing/2014/main" id="{4DC12509-20AB-9E43-446F-D3A7F2FB3019}"/>
              </a:ext>
            </a:extLst>
          </p:cNvPr>
          <p:cNvSpPr/>
          <p:nvPr/>
        </p:nvSpPr>
        <p:spPr>
          <a:xfrm>
            <a:off x="1763689" y="5373216"/>
            <a:ext cx="432048" cy="235228"/>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吹き出し 13">
            <a:extLst>
              <a:ext uri="{FF2B5EF4-FFF2-40B4-BE49-F238E27FC236}">
                <a16:creationId xmlns:a16="http://schemas.microsoft.com/office/drawing/2014/main" id="{6727C8B8-9F2B-E89A-BA81-4C8B1F7F7B82}"/>
              </a:ext>
            </a:extLst>
          </p:cNvPr>
          <p:cNvSpPr/>
          <p:nvPr/>
        </p:nvSpPr>
        <p:spPr>
          <a:xfrm>
            <a:off x="1763689" y="1748598"/>
            <a:ext cx="2966866" cy="663137"/>
          </a:xfrm>
          <a:prstGeom prst="wedgeRoundRectCallout">
            <a:avLst>
              <a:gd name="adj1" fmla="val 72364"/>
              <a:gd name="adj2" fmla="val -15821"/>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どこかで聞いた気が・・・</a:t>
            </a:r>
            <a:r>
              <a:rPr lang="en-US" altLang="ja-JP" sz="2000" b="1" dirty="0" smtClean="0"/>
              <a:t/>
            </a:r>
            <a:br>
              <a:rPr lang="en-US" altLang="ja-JP" sz="2000" b="1" dirty="0" smtClean="0"/>
            </a:br>
            <a:r>
              <a:rPr lang="en-US" altLang="ja-JP" sz="2000" b="1" dirty="0" smtClean="0"/>
              <a:t>2D</a:t>
            </a:r>
            <a:r>
              <a:rPr lang="ja-JP" altLang="en-US" sz="2000" b="1" dirty="0" smtClean="0"/>
              <a:t>のアニメーションか！</a:t>
            </a:r>
            <a:endParaRPr lang="ja-JP" altLang="en-US" sz="2000" b="1" dirty="0"/>
          </a:p>
        </p:txBody>
      </p:sp>
      <p:sp>
        <p:nvSpPr>
          <p:cNvPr id="15" name="正方形/長方形 14">
            <a:extLst>
              <a:ext uri="{FF2B5EF4-FFF2-40B4-BE49-F238E27FC236}">
                <a16:creationId xmlns:a16="http://schemas.microsoft.com/office/drawing/2014/main" id="{FD4F508C-0ED1-4AA4-A6D9-169B3E6AC7AC}"/>
              </a:ext>
            </a:extLst>
          </p:cNvPr>
          <p:cNvSpPr/>
          <p:nvPr/>
        </p:nvSpPr>
        <p:spPr>
          <a:xfrm>
            <a:off x="5520946" y="6139903"/>
            <a:ext cx="995269" cy="287845"/>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7BEF2B0B-5005-26D1-DFB8-EF9DC3542C4A}"/>
              </a:ext>
            </a:extLst>
          </p:cNvPr>
          <p:cNvCxnSpPr>
            <a:cxnSpLocks/>
            <a:stCxn id="23" idx="3"/>
          </p:cNvCxnSpPr>
          <p:nvPr/>
        </p:nvCxnSpPr>
        <p:spPr>
          <a:xfrm>
            <a:off x="2195737" y="5490830"/>
            <a:ext cx="1584175" cy="8184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7BEF2B0B-5005-26D1-DFB8-EF9DC3542C4A}"/>
              </a:ext>
            </a:extLst>
          </p:cNvPr>
          <p:cNvCxnSpPr>
            <a:cxnSpLocks/>
            <a:stCxn id="7" idx="3"/>
          </p:cNvCxnSpPr>
          <p:nvPr/>
        </p:nvCxnSpPr>
        <p:spPr>
          <a:xfrm>
            <a:off x="4705257" y="6283826"/>
            <a:ext cx="730839" cy="254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122" name="Picture 2" descr="ひらめいた人のイラスト（男性）"/>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5364088" y="1464884"/>
            <a:ext cx="841776" cy="996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2051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8DC7-5E8A-FC28-A16F-F653F7719218}"/>
            </a:ext>
          </a:extLst>
        </p:cNvPr>
        <p:cNvGrpSpPr/>
        <p:nvPr/>
      </p:nvGrpSpPr>
      <p:grpSpPr>
        <a:xfrm>
          <a:off x="0" y="0"/>
          <a:ext cx="0" cy="0"/>
          <a:chOff x="0" y="0"/>
          <a:chExt cx="0" cy="0"/>
        </a:xfrm>
      </p:grpSpPr>
      <p:pic>
        <p:nvPicPr>
          <p:cNvPr id="2" name="図 1"/>
          <p:cNvPicPr>
            <a:picLocks noChangeAspect="1"/>
          </p:cNvPicPr>
          <p:nvPr/>
        </p:nvPicPr>
        <p:blipFill>
          <a:blip r:embed="rId3"/>
          <a:stretch>
            <a:fillRect/>
          </a:stretch>
        </p:blipFill>
        <p:spPr>
          <a:xfrm>
            <a:off x="5148065" y="1124744"/>
            <a:ext cx="3488234" cy="1930874"/>
          </a:xfrm>
          <a:prstGeom prst="rect">
            <a:avLst/>
          </a:prstGeom>
        </p:spPr>
      </p:pic>
      <p:sp>
        <p:nvSpPr>
          <p:cNvPr id="5" name="Text Box 5">
            <a:extLst>
              <a:ext uri="{FF2B5EF4-FFF2-40B4-BE49-F238E27FC236}">
                <a16:creationId xmlns:a16="http://schemas.microsoft.com/office/drawing/2014/main" id="{A747CA87-3B93-3C08-9B27-5C38CC98E618}"/>
              </a:ext>
            </a:extLst>
          </p:cNvPr>
          <p:cNvSpPr txBox="1">
            <a:spLocks noChangeArrowheads="1"/>
          </p:cNvSpPr>
          <p:nvPr/>
        </p:nvSpPr>
        <p:spPr bwMode="auto">
          <a:xfrm>
            <a:off x="251519" y="113967"/>
            <a:ext cx="8684513"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smtClean="0"/>
              <a:t>②アニメーションコントローラをダブルクリックすると、「アニメーター」に</a:t>
            </a:r>
            <a:r>
              <a:rPr lang="en-US" altLang="ja-JP" sz="2263" b="1" dirty="0" smtClean="0"/>
              <a:t/>
            </a:r>
            <a:br>
              <a:rPr lang="en-US" altLang="ja-JP" sz="2263" b="1" dirty="0" smtClean="0"/>
            </a:br>
            <a:r>
              <a:rPr lang="ja-JP" altLang="en-US" sz="2263" b="1" dirty="0" smtClean="0"/>
              <a:t>　 切り替わるので、そこに再生したいアニメをドラッグ＆ドロップする。</a:t>
            </a:r>
            <a:endParaRPr lang="ja-JP" altLang="en-US" sz="2263" b="1" dirty="0"/>
          </a:p>
        </p:txBody>
      </p:sp>
      <p:sp>
        <p:nvSpPr>
          <p:cNvPr id="12" name="正方形/長方形 11">
            <a:extLst>
              <a:ext uri="{FF2B5EF4-FFF2-40B4-BE49-F238E27FC236}">
                <a16:creationId xmlns:a16="http://schemas.microsoft.com/office/drawing/2014/main" id="{AFC417A6-A8CB-633D-2C3D-CD0FCFF3E569}"/>
              </a:ext>
            </a:extLst>
          </p:cNvPr>
          <p:cNvSpPr/>
          <p:nvPr/>
        </p:nvSpPr>
        <p:spPr>
          <a:xfrm>
            <a:off x="7092280" y="2118953"/>
            <a:ext cx="1512168" cy="433168"/>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Text Box 5">
            <a:extLst>
              <a:ext uri="{FF2B5EF4-FFF2-40B4-BE49-F238E27FC236}">
                <a16:creationId xmlns:a16="http://schemas.microsoft.com/office/drawing/2014/main" id="{880D42C9-C248-7FBA-0DED-86320D3CF9B8}"/>
              </a:ext>
            </a:extLst>
          </p:cNvPr>
          <p:cNvSpPr txBox="1">
            <a:spLocks noChangeArrowheads="1"/>
          </p:cNvSpPr>
          <p:nvPr/>
        </p:nvSpPr>
        <p:spPr bwMode="auto">
          <a:xfrm>
            <a:off x="251519" y="3648306"/>
            <a:ext cx="8560272"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smtClean="0"/>
              <a:t>③</a:t>
            </a:r>
            <a:r>
              <a:rPr lang="en-US" altLang="ja-JP" sz="2263" b="1" dirty="0" smtClean="0"/>
              <a:t>Unity</a:t>
            </a:r>
            <a:r>
              <a:rPr lang="ja-JP" altLang="en-US" sz="2263" b="1" dirty="0" err="1" smtClean="0"/>
              <a:t>ちゃんを</a:t>
            </a:r>
            <a:r>
              <a:rPr lang="ja-JP" altLang="en-US" sz="2263" b="1" dirty="0" smtClean="0"/>
              <a:t>選択し、ヒエラルキーにある「</a:t>
            </a:r>
            <a:r>
              <a:rPr lang="en-US" altLang="ja-JP" sz="2263" b="1" dirty="0" smtClean="0">
                <a:solidFill>
                  <a:srgbClr val="00B0F0"/>
                </a:solidFill>
              </a:rPr>
              <a:t>Animator</a:t>
            </a:r>
            <a:r>
              <a:rPr lang="ja-JP" altLang="en-US" sz="2263" b="1" dirty="0" smtClean="0"/>
              <a:t>」の</a:t>
            </a:r>
            <a:r>
              <a:rPr lang="en-US" altLang="ja-JP" sz="2263" b="1" dirty="0" smtClean="0"/>
              <a:t/>
            </a:r>
            <a:br>
              <a:rPr lang="en-US" altLang="ja-JP" sz="2263" b="1" dirty="0" smtClean="0"/>
            </a:br>
            <a:r>
              <a:rPr lang="ja-JP" altLang="en-US" sz="2263" b="1" dirty="0" smtClean="0"/>
              <a:t>　 「コントローラー」を自分が作ったものに差し替える。</a:t>
            </a:r>
            <a:endParaRPr lang="ja-JP" altLang="en-US" sz="2263" b="1" dirty="0"/>
          </a:p>
        </p:txBody>
      </p:sp>
      <p:pic>
        <p:nvPicPr>
          <p:cNvPr id="3" name="図 2"/>
          <p:cNvPicPr>
            <a:picLocks noChangeAspect="1"/>
          </p:cNvPicPr>
          <p:nvPr/>
        </p:nvPicPr>
        <p:blipFill>
          <a:blip r:embed="rId4"/>
          <a:stretch>
            <a:fillRect/>
          </a:stretch>
        </p:blipFill>
        <p:spPr>
          <a:xfrm>
            <a:off x="611562" y="1143865"/>
            <a:ext cx="3672407" cy="1950175"/>
          </a:xfrm>
          <a:prstGeom prst="rect">
            <a:avLst/>
          </a:prstGeom>
        </p:spPr>
      </p:pic>
      <p:sp>
        <p:nvSpPr>
          <p:cNvPr id="13" name="正方形/長方形 12">
            <a:extLst>
              <a:ext uri="{FF2B5EF4-FFF2-40B4-BE49-F238E27FC236}">
                <a16:creationId xmlns:a16="http://schemas.microsoft.com/office/drawing/2014/main" id="{AFC417A6-A8CB-633D-2C3D-CD0FCFF3E569}"/>
              </a:ext>
            </a:extLst>
          </p:cNvPr>
          <p:cNvSpPr/>
          <p:nvPr/>
        </p:nvSpPr>
        <p:spPr>
          <a:xfrm>
            <a:off x="3275857" y="2020738"/>
            <a:ext cx="864095" cy="103488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下カーブ矢印 3"/>
          <p:cNvSpPr/>
          <p:nvPr/>
        </p:nvSpPr>
        <p:spPr>
          <a:xfrm>
            <a:off x="3707904" y="1515998"/>
            <a:ext cx="3672408" cy="676083"/>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6" name="図 5"/>
          <p:cNvPicPr>
            <a:picLocks noChangeAspect="1"/>
          </p:cNvPicPr>
          <p:nvPr/>
        </p:nvPicPr>
        <p:blipFill>
          <a:blip r:embed="rId5"/>
          <a:stretch>
            <a:fillRect/>
          </a:stretch>
        </p:blipFill>
        <p:spPr>
          <a:xfrm>
            <a:off x="2434891" y="4725144"/>
            <a:ext cx="4274219" cy="1622684"/>
          </a:xfrm>
          <a:prstGeom prst="rect">
            <a:avLst/>
          </a:prstGeom>
        </p:spPr>
      </p:pic>
    </p:spTree>
    <p:extLst>
      <p:ext uri="{BB962C8B-B14F-4D97-AF65-F5344CB8AC3E}">
        <p14:creationId xmlns:p14="http://schemas.microsoft.com/office/powerpoint/2010/main" val="11095684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DE851-9A4E-06B4-EAD5-C70E8FCCF238}"/>
            </a:ext>
          </a:extLst>
        </p:cNvPr>
        <p:cNvGrpSpPr/>
        <p:nvPr/>
      </p:nvGrpSpPr>
      <p:grpSpPr>
        <a:xfrm>
          <a:off x="0" y="0"/>
          <a:ext cx="0" cy="0"/>
          <a:chOff x="0" y="0"/>
          <a:chExt cx="0" cy="0"/>
        </a:xfrm>
      </p:grpSpPr>
      <p:sp>
        <p:nvSpPr>
          <p:cNvPr id="17" name="Text Box 5">
            <a:extLst>
              <a:ext uri="{FF2B5EF4-FFF2-40B4-BE49-F238E27FC236}">
                <a16:creationId xmlns:a16="http://schemas.microsoft.com/office/drawing/2014/main" id="{02506132-5233-6744-CB7C-9DE376076208}"/>
              </a:ext>
            </a:extLst>
          </p:cNvPr>
          <p:cNvSpPr txBox="1">
            <a:spLocks noChangeArrowheads="1"/>
          </p:cNvSpPr>
          <p:nvPr/>
        </p:nvSpPr>
        <p:spPr bwMode="auto">
          <a:xfrm>
            <a:off x="484248" y="335938"/>
            <a:ext cx="8424936"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これで実行すれば、ゲーム開始後すぐに指定した</a:t>
            </a:r>
            <a:r>
              <a:rPr lang="en-US" altLang="ja-JP" sz="2263" b="1" dirty="0" smtClean="0"/>
              <a:t/>
            </a:r>
            <a:br>
              <a:rPr lang="en-US" altLang="ja-JP" sz="2263" b="1" dirty="0" smtClean="0"/>
            </a:br>
            <a:r>
              <a:rPr lang="ja-JP" altLang="en-US" sz="2263" b="1" dirty="0" smtClean="0"/>
              <a:t>アニメーションが再生されるようになる。</a:t>
            </a:r>
            <a:endParaRPr lang="ja-JP" altLang="en-US" sz="2263" b="1" dirty="0"/>
          </a:p>
        </p:txBody>
      </p:sp>
      <p:sp>
        <p:nvSpPr>
          <p:cNvPr id="18" name="Text Box 5">
            <a:extLst>
              <a:ext uri="{FF2B5EF4-FFF2-40B4-BE49-F238E27FC236}">
                <a16:creationId xmlns:a16="http://schemas.microsoft.com/office/drawing/2014/main" id="{E6B4B03E-E644-58F9-EF57-360D2C5AC186}"/>
              </a:ext>
            </a:extLst>
          </p:cNvPr>
          <p:cNvSpPr txBox="1">
            <a:spLocks noChangeArrowheads="1"/>
          </p:cNvSpPr>
          <p:nvPr/>
        </p:nvSpPr>
        <p:spPr bwMode="auto">
          <a:xfrm>
            <a:off x="323528" y="4509120"/>
            <a:ext cx="5616624" cy="1833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ちなみに、現在はアニメーションが</a:t>
            </a:r>
            <a:r>
              <a:rPr lang="en-US" altLang="ja-JP" sz="2263" b="1" dirty="0" smtClean="0"/>
              <a:t/>
            </a:r>
            <a:br>
              <a:rPr lang="en-US" altLang="ja-JP" sz="2263" b="1" dirty="0" smtClean="0"/>
            </a:br>
            <a:r>
              <a:rPr lang="ja-JP" altLang="en-US" sz="2263" b="1" dirty="0" smtClean="0"/>
              <a:t>ループされている人もいるかもしれない。</a:t>
            </a:r>
            <a:r>
              <a:rPr lang="en-US" altLang="ja-JP" sz="2263" b="1" dirty="0" smtClean="0"/>
              <a:t/>
            </a:r>
            <a:br>
              <a:rPr lang="en-US" altLang="ja-JP" sz="2263" b="1" dirty="0" smtClean="0"/>
            </a:br>
            <a:r>
              <a:rPr lang="ja-JP" altLang="en-US" sz="2263" b="1" dirty="0" smtClean="0"/>
              <a:t>ループさせるかどうかは、</a:t>
            </a:r>
            <a:r>
              <a:rPr lang="en-US" altLang="ja-JP" sz="2263" b="1" dirty="0" smtClean="0"/>
              <a:t/>
            </a:r>
            <a:br>
              <a:rPr lang="en-US" altLang="ja-JP" sz="2263" b="1" dirty="0" smtClean="0"/>
            </a:br>
            <a:r>
              <a:rPr lang="ja-JP" altLang="en-US" sz="2263" b="1" dirty="0" smtClean="0">
                <a:solidFill>
                  <a:srgbClr val="00B050"/>
                </a:solidFill>
              </a:rPr>
              <a:t>アニメーションクリップのインスペクター</a:t>
            </a:r>
            <a:r>
              <a:rPr lang="ja-JP" altLang="en-US" sz="2263" b="1" dirty="0" smtClean="0"/>
              <a:t>から</a:t>
            </a:r>
            <a:r>
              <a:rPr lang="en-US" altLang="ja-JP" sz="2263" b="1" dirty="0" smtClean="0"/>
              <a:t/>
            </a:r>
            <a:br>
              <a:rPr lang="en-US" altLang="ja-JP" sz="2263" b="1" dirty="0" smtClean="0"/>
            </a:br>
            <a:r>
              <a:rPr lang="ja-JP" altLang="en-US" sz="2263" b="1" dirty="0" smtClean="0"/>
              <a:t>設定を変えればよい。</a:t>
            </a:r>
            <a:endParaRPr lang="en-US" altLang="ja-JP" sz="2263" b="1" dirty="0"/>
          </a:p>
        </p:txBody>
      </p:sp>
      <p:pic>
        <p:nvPicPr>
          <p:cNvPr id="2" name="図 1"/>
          <p:cNvPicPr>
            <a:picLocks noChangeAspect="1"/>
          </p:cNvPicPr>
          <p:nvPr/>
        </p:nvPicPr>
        <p:blipFill>
          <a:blip r:embed="rId3"/>
          <a:stretch>
            <a:fillRect/>
          </a:stretch>
        </p:blipFill>
        <p:spPr>
          <a:xfrm>
            <a:off x="3059832" y="1370884"/>
            <a:ext cx="3061519" cy="2058116"/>
          </a:xfrm>
          <a:prstGeom prst="rect">
            <a:avLst/>
          </a:prstGeom>
        </p:spPr>
      </p:pic>
      <p:pic>
        <p:nvPicPr>
          <p:cNvPr id="3" name="図 2"/>
          <p:cNvPicPr>
            <a:picLocks noChangeAspect="1"/>
          </p:cNvPicPr>
          <p:nvPr/>
        </p:nvPicPr>
        <p:blipFill>
          <a:blip r:embed="rId4"/>
          <a:stretch>
            <a:fillRect/>
          </a:stretch>
        </p:blipFill>
        <p:spPr>
          <a:xfrm>
            <a:off x="6228184" y="4293096"/>
            <a:ext cx="2604045" cy="2193555"/>
          </a:xfrm>
          <a:prstGeom prst="rect">
            <a:avLst/>
          </a:prstGeom>
        </p:spPr>
      </p:pic>
      <p:sp>
        <p:nvSpPr>
          <p:cNvPr id="9" name="正方形/長方形 8">
            <a:extLst>
              <a:ext uri="{FF2B5EF4-FFF2-40B4-BE49-F238E27FC236}">
                <a16:creationId xmlns:a16="http://schemas.microsoft.com/office/drawing/2014/main" id="{AFC417A6-A8CB-633D-2C3D-CD0FCFF3E569}"/>
              </a:ext>
            </a:extLst>
          </p:cNvPr>
          <p:cNvSpPr/>
          <p:nvPr/>
        </p:nvSpPr>
        <p:spPr>
          <a:xfrm>
            <a:off x="6372200" y="5157192"/>
            <a:ext cx="2460029" cy="36004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341459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CC93F-D29B-EC39-687B-EFC921625356}"/>
            </a:ext>
          </a:extLst>
        </p:cNvPr>
        <p:cNvGrpSpPr/>
        <p:nvPr/>
      </p:nvGrpSpPr>
      <p:grpSpPr>
        <a:xfrm>
          <a:off x="0" y="0"/>
          <a:ext cx="0" cy="0"/>
          <a:chOff x="0" y="0"/>
          <a:chExt cx="0" cy="0"/>
        </a:xfrm>
      </p:grpSpPr>
      <p:sp>
        <p:nvSpPr>
          <p:cNvPr id="5" name="Text Box 5">
            <a:extLst>
              <a:ext uri="{FF2B5EF4-FFF2-40B4-BE49-F238E27FC236}">
                <a16:creationId xmlns:a16="http://schemas.microsoft.com/office/drawing/2014/main" id="{BF65CF1E-D244-9441-6D8C-43FDE913F2E2}"/>
              </a:ext>
            </a:extLst>
          </p:cNvPr>
          <p:cNvSpPr txBox="1">
            <a:spLocks noChangeArrowheads="1"/>
          </p:cNvSpPr>
          <p:nvPr/>
        </p:nvSpPr>
        <p:spPr bwMode="auto">
          <a:xfrm>
            <a:off x="216025" y="382034"/>
            <a:ext cx="8820471"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アニメーションの切り替えは、</a:t>
            </a:r>
            <a:r>
              <a:rPr lang="en-US" altLang="ja-JP" sz="2263" b="1" dirty="0" smtClean="0"/>
              <a:t>2D</a:t>
            </a:r>
            <a:r>
              <a:rPr lang="ja-JP" altLang="en-US" sz="2263" b="1" dirty="0" smtClean="0"/>
              <a:t>と同じ「</a:t>
            </a:r>
            <a:r>
              <a:rPr lang="en-US" altLang="ja-JP" sz="2263" b="1" dirty="0" err="1">
                <a:solidFill>
                  <a:srgbClr val="FF66CC"/>
                </a:solidFill>
              </a:rPr>
              <a:t>MakeTransition</a:t>
            </a:r>
            <a:r>
              <a:rPr lang="ja-JP" altLang="en-US" sz="2263" b="1" dirty="0"/>
              <a:t>」を</a:t>
            </a:r>
            <a:r>
              <a:rPr lang="en-US" altLang="ja-JP" sz="2263" b="1" dirty="0"/>
              <a:t/>
            </a:r>
            <a:br>
              <a:rPr lang="en-US" altLang="ja-JP" sz="2263" b="1" dirty="0"/>
            </a:br>
            <a:r>
              <a:rPr lang="ja-JP" altLang="en-US" sz="2263" b="1" dirty="0"/>
              <a:t>　 </a:t>
            </a:r>
            <a:r>
              <a:rPr lang="ja-JP" altLang="en-US" sz="2263" b="1" dirty="0" smtClean="0"/>
              <a:t>選択</a:t>
            </a:r>
            <a:r>
              <a:rPr lang="ja-JP" altLang="en-US" sz="2263" b="1" dirty="0"/>
              <a:t>して</a:t>
            </a:r>
            <a:r>
              <a:rPr lang="ja-JP" altLang="en-US" sz="2263" b="1" dirty="0" smtClean="0"/>
              <a:t>矢印で行き来させる。</a:t>
            </a:r>
            <a:endParaRPr lang="ja-JP" altLang="en-US" sz="2263" b="1" dirty="0"/>
          </a:p>
        </p:txBody>
      </p:sp>
      <p:sp>
        <p:nvSpPr>
          <p:cNvPr id="15" name="Text Box 5">
            <a:extLst>
              <a:ext uri="{FF2B5EF4-FFF2-40B4-BE49-F238E27FC236}">
                <a16:creationId xmlns:a16="http://schemas.microsoft.com/office/drawing/2014/main" id="{2BE47E55-F701-85F1-0F55-2362D2583ED3}"/>
              </a:ext>
            </a:extLst>
          </p:cNvPr>
          <p:cNvSpPr txBox="1">
            <a:spLocks noChangeArrowheads="1"/>
          </p:cNvSpPr>
          <p:nvPr/>
        </p:nvSpPr>
        <p:spPr bwMode="auto">
          <a:xfrm>
            <a:off x="299103" y="3071756"/>
            <a:ext cx="8712968"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パラメーターにある変数も全く同じ感覚で使用可能。</a:t>
            </a:r>
            <a:r>
              <a:rPr lang="en-US" altLang="ja-JP" sz="2263" b="1" dirty="0" smtClean="0"/>
              <a:t/>
            </a:r>
            <a:br>
              <a:rPr lang="en-US" altLang="ja-JP" sz="2263" b="1" dirty="0" smtClean="0"/>
            </a:br>
            <a:r>
              <a:rPr lang="en-US" altLang="ja-JP" sz="2263" b="1" dirty="0" smtClean="0"/>
              <a:t>3D</a:t>
            </a:r>
            <a:r>
              <a:rPr lang="ja-JP" altLang="en-US" sz="2263" b="1" dirty="0" smtClean="0"/>
              <a:t>モデルはアニメーションが多いので、</a:t>
            </a:r>
            <a:r>
              <a:rPr lang="en-US" altLang="ja-JP" sz="2263" b="1" dirty="0" smtClean="0"/>
              <a:t/>
            </a:r>
            <a:br>
              <a:rPr lang="en-US" altLang="ja-JP" sz="2263" b="1" dirty="0" smtClean="0"/>
            </a:br>
            <a:r>
              <a:rPr lang="en-US" altLang="ja-JP" sz="2263" b="1" dirty="0" smtClean="0"/>
              <a:t>bool</a:t>
            </a:r>
            <a:r>
              <a:rPr lang="ja-JP" altLang="en-US" sz="2263" b="1" dirty="0" smtClean="0"/>
              <a:t>型以外を使用するのも有効。</a:t>
            </a:r>
            <a:endParaRPr lang="ja-JP" altLang="en-US" sz="2263" b="1" dirty="0"/>
          </a:p>
        </p:txBody>
      </p:sp>
      <p:sp>
        <p:nvSpPr>
          <p:cNvPr id="14" name="矢印: 右 13">
            <a:extLst>
              <a:ext uri="{FF2B5EF4-FFF2-40B4-BE49-F238E27FC236}">
                <a16:creationId xmlns:a16="http://schemas.microsoft.com/office/drawing/2014/main" id="{E11EFF3C-652F-E96D-AC58-4CFE264C9AED}"/>
              </a:ext>
            </a:extLst>
          </p:cNvPr>
          <p:cNvSpPr/>
          <p:nvPr/>
        </p:nvSpPr>
        <p:spPr>
          <a:xfrm>
            <a:off x="3681984" y="1298493"/>
            <a:ext cx="1152128" cy="12241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 name="図 1"/>
          <p:cNvPicPr>
            <a:picLocks noChangeAspect="1"/>
          </p:cNvPicPr>
          <p:nvPr/>
        </p:nvPicPr>
        <p:blipFill>
          <a:blip r:embed="rId3"/>
          <a:stretch>
            <a:fillRect/>
          </a:stretch>
        </p:blipFill>
        <p:spPr>
          <a:xfrm>
            <a:off x="755576" y="1199605"/>
            <a:ext cx="2592288" cy="1443519"/>
          </a:xfrm>
          <a:prstGeom prst="rect">
            <a:avLst/>
          </a:prstGeom>
        </p:spPr>
      </p:pic>
      <p:pic>
        <p:nvPicPr>
          <p:cNvPr id="4" name="図 3"/>
          <p:cNvPicPr>
            <a:picLocks noChangeAspect="1"/>
          </p:cNvPicPr>
          <p:nvPr/>
        </p:nvPicPr>
        <p:blipFill>
          <a:blip r:embed="rId4"/>
          <a:stretch>
            <a:fillRect/>
          </a:stretch>
        </p:blipFill>
        <p:spPr>
          <a:xfrm>
            <a:off x="5076056" y="1170840"/>
            <a:ext cx="2880320" cy="1377045"/>
          </a:xfrm>
          <a:prstGeom prst="rect">
            <a:avLst/>
          </a:prstGeom>
        </p:spPr>
      </p:pic>
      <p:pic>
        <p:nvPicPr>
          <p:cNvPr id="7" name="図 6"/>
          <p:cNvPicPr>
            <a:picLocks noChangeAspect="1"/>
          </p:cNvPicPr>
          <p:nvPr/>
        </p:nvPicPr>
        <p:blipFill>
          <a:blip r:embed="rId5"/>
          <a:stretch>
            <a:fillRect/>
          </a:stretch>
        </p:blipFill>
        <p:spPr>
          <a:xfrm>
            <a:off x="3059832" y="4384433"/>
            <a:ext cx="2736304" cy="1474761"/>
          </a:xfrm>
          <a:prstGeom prst="rect">
            <a:avLst/>
          </a:prstGeom>
        </p:spPr>
      </p:pic>
    </p:spTree>
    <p:extLst>
      <p:ext uri="{BB962C8B-B14F-4D97-AF65-F5344CB8AC3E}">
        <p14:creationId xmlns:p14="http://schemas.microsoft.com/office/powerpoint/2010/main" val="17636486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7E5B6-724D-FCAE-4DB4-D43C6E890E14}"/>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3FE6AEA2-1B16-B66F-9494-1AF57D717854}"/>
              </a:ext>
            </a:extLst>
          </p:cNvPr>
          <p:cNvSpPr/>
          <p:nvPr/>
        </p:nvSpPr>
        <p:spPr>
          <a:xfrm>
            <a:off x="269776" y="2172426"/>
            <a:ext cx="4302224" cy="26967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Text Box 5">
            <a:extLst>
              <a:ext uri="{FF2B5EF4-FFF2-40B4-BE49-F238E27FC236}">
                <a16:creationId xmlns:a16="http://schemas.microsoft.com/office/drawing/2014/main" id="{5D4D56E2-C940-5B67-3C09-09ACA4DD255D}"/>
              </a:ext>
            </a:extLst>
          </p:cNvPr>
          <p:cNvSpPr txBox="1">
            <a:spLocks noChangeArrowheads="1"/>
          </p:cNvSpPr>
          <p:nvPr/>
        </p:nvSpPr>
        <p:spPr bwMode="auto">
          <a:xfrm>
            <a:off x="216025" y="382034"/>
            <a:ext cx="8820471"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アニメーション</a:t>
            </a:r>
            <a:r>
              <a:rPr lang="ja-JP" altLang="en-US" sz="2263" b="1" dirty="0"/>
              <a:t>を行き来する矢印を選択し、「</a:t>
            </a:r>
            <a:r>
              <a:rPr lang="en-US" altLang="ja-JP" sz="2263" b="1" dirty="0">
                <a:solidFill>
                  <a:srgbClr val="FF66CC"/>
                </a:solidFill>
              </a:rPr>
              <a:t>Conditions</a:t>
            </a:r>
            <a:r>
              <a:rPr lang="ja-JP" altLang="en-US" sz="2263" b="1" dirty="0"/>
              <a:t>」を追加する。</a:t>
            </a:r>
            <a:r>
              <a:rPr lang="en-US" altLang="ja-JP" sz="2263" b="1" dirty="0"/>
              <a:t/>
            </a:r>
            <a:br>
              <a:rPr lang="en-US" altLang="ja-JP" sz="2263" b="1" dirty="0"/>
            </a:br>
            <a:r>
              <a:rPr lang="ja-JP" altLang="en-US" sz="2263" b="1" dirty="0" smtClean="0"/>
              <a:t>ここでうまく条件を使いこなせば、</a:t>
            </a:r>
            <a:r>
              <a:rPr lang="en-US" altLang="ja-JP" sz="2263" b="1" dirty="0" smtClean="0"/>
              <a:t/>
            </a:r>
            <a:br>
              <a:rPr lang="en-US" altLang="ja-JP" sz="2263" b="1" dirty="0" smtClean="0"/>
            </a:br>
            <a:r>
              <a:rPr lang="ja-JP" altLang="en-US" sz="2263" b="1" dirty="0" smtClean="0"/>
              <a:t>様々なアニメーション繊維が管理可能となるはず。</a:t>
            </a:r>
            <a:endParaRPr lang="ja-JP" altLang="en-US" sz="2263" b="1" dirty="0"/>
          </a:p>
        </p:txBody>
      </p:sp>
      <p:sp>
        <p:nvSpPr>
          <p:cNvPr id="10" name="Text Box 5">
            <a:extLst>
              <a:ext uri="{FF2B5EF4-FFF2-40B4-BE49-F238E27FC236}">
                <a16:creationId xmlns:a16="http://schemas.microsoft.com/office/drawing/2014/main" id="{39C5E1EF-CC12-D8E0-D91D-139F3317A666}"/>
              </a:ext>
            </a:extLst>
          </p:cNvPr>
          <p:cNvSpPr txBox="1">
            <a:spLocks noChangeArrowheads="1"/>
          </p:cNvSpPr>
          <p:nvPr/>
        </p:nvSpPr>
        <p:spPr bwMode="auto">
          <a:xfrm>
            <a:off x="1390395" y="1952141"/>
            <a:ext cx="1711488" cy="440570"/>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左から右</a:t>
            </a:r>
          </a:p>
        </p:txBody>
      </p:sp>
      <p:sp>
        <p:nvSpPr>
          <p:cNvPr id="11" name="四角形: 角を丸くする 10">
            <a:extLst>
              <a:ext uri="{FF2B5EF4-FFF2-40B4-BE49-F238E27FC236}">
                <a16:creationId xmlns:a16="http://schemas.microsoft.com/office/drawing/2014/main" id="{564911C1-6A2C-CD88-E027-31753F6D17B5}"/>
              </a:ext>
            </a:extLst>
          </p:cNvPr>
          <p:cNvSpPr/>
          <p:nvPr/>
        </p:nvSpPr>
        <p:spPr>
          <a:xfrm>
            <a:off x="4722285" y="2172426"/>
            <a:ext cx="4302224" cy="26967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Text Box 5">
            <a:extLst>
              <a:ext uri="{FF2B5EF4-FFF2-40B4-BE49-F238E27FC236}">
                <a16:creationId xmlns:a16="http://schemas.microsoft.com/office/drawing/2014/main" id="{E8367D33-2CED-EF29-051A-E6DC417802D1}"/>
              </a:ext>
            </a:extLst>
          </p:cNvPr>
          <p:cNvSpPr txBox="1">
            <a:spLocks noChangeArrowheads="1"/>
          </p:cNvSpPr>
          <p:nvPr/>
        </p:nvSpPr>
        <p:spPr bwMode="auto">
          <a:xfrm>
            <a:off x="5842904" y="1952141"/>
            <a:ext cx="1711488" cy="440570"/>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右から左</a:t>
            </a:r>
          </a:p>
        </p:txBody>
      </p:sp>
      <p:pic>
        <p:nvPicPr>
          <p:cNvPr id="2" name="図 1"/>
          <p:cNvPicPr>
            <a:picLocks noChangeAspect="1"/>
          </p:cNvPicPr>
          <p:nvPr/>
        </p:nvPicPr>
        <p:blipFill>
          <a:blip r:embed="rId3"/>
          <a:stretch>
            <a:fillRect/>
          </a:stretch>
        </p:blipFill>
        <p:spPr>
          <a:xfrm>
            <a:off x="1357522" y="2478184"/>
            <a:ext cx="1744362" cy="1636780"/>
          </a:xfrm>
          <a:prstGeom prst="rect">
            <a:avLst/>
          </a:prstGeom>
        </p:spPr>
      </p:pic>
      <p:pic>
        <p:nvPicPr>
          <p:cNvPr id="13" name="図 12"/>
          <p:cNvPicPr>
            <a:picLocks noChangeAspect="1"/>
          </p:cNvPicPr>
          <p:nvPr/>
        </p:nvPicPr>
        <p:blipFill>
          <a:blip r:embed="rId4"/>
          <a:stretch>
            <a:fillRect/>
          </a:stretch>
        </p:blipFill>
        <p:spPr>
          <a:xfrm>
            <a:off x="899592" y="4246762"/>
            <a:ext cx="2725011" cy="539606"/>
          </a:xfrm>
          <a:prstGeom prst="rect">
            <a:avLst/>
          </a:prstGeom>
        </p:spPr>
      </p:pic>
      <p:pic>
        <p:nvPicPr>
          <p:cNvPr id="14" name="図 13"/>
          <p:cNvPicPr>
            <a:picLocks noChangeAspect="1"/>
          </p:cNvPicPr>
          <p:nvPr/>
        </p:nvPicPr>
        <p:blipFill>
          <a:blip r:embed="rId5"/>
          <a:stretch>
            <a:fillRect/>
          </a:stretch>
        </p:blipFill>
        <p:spPr>
          <a:xfrm>
            <a:off x="5940152" y="2504963"/>
            <a:ext cx="1687500" cy="1570109"/>
          </a:xfrm>
          <a:prstGeom prst="rect">
            <a:avLst/>
          </a:prstGeom>
        </p:spPr>
      </p:pic>
      <p:pic>
        <p:nvPicPr>
          <p:cNvPr id="15" name="図 14"/>
          <p:cNvPicPr>
            <a:picLocks noChangeAspect="1"/>
          </p:cNvPicPr>
          <p:nvPr/>
        </p:nvPicPr>
        <p:blipFill>
          <a:blip r:embed="rId6"/>
          <a:stretch>
            <a:fillRect/>
          </a:stretch>
        </p:blipFill>
        <p:spPr>
          <a:xfrm>
            <a:off x="5519397" y="4214523"/>
            <a:ext cx="2725011" cy="513898"/>
          </a:xfrm>
          <a:prstGeom prst="rect">
            <a:avLst/>
          </a:prstGeom>
        </p:spPr>
      </p:pic>
      <p:sp>
        <p:nvSpPr>
          <p:cNvPr id="20" name="角丸四角形吹き出し 13">
            <a:extLst>
              <a:ext uri="{FF2B5EF4-FFF2-40B4-BE49-F238E27FC236}">
                <a16:creationId xmlns:a16="http://schemas.microsoft.com/office/drawing/2014/main" id="{1B031F6F-68D7-F332-B7A1-8BBF0674DBB5}"/>
              </a:ext>
            </a:extLst>
          </p:cNvPr>
          <p:cNvSpPr/>
          <p:nvPr/>
        </p:nvSpPr>
        <p:spPr>
          <a:xfrm>
            <a:off x="2987824" y="5522509"/>
            <a:ext cx="5336560" cy="990249"/>
          </a:xfrm>
          <a:prstGeom prst="wedgeRoundRectCallout">
            <a:avLst>
              <a:gd name="adj1" fmla="val -60656"/>
              <a:gd name="adj2" fmla="val 15637"/>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そう・・・うまく条件を使いこなすことが</a:t>
            </a:r>
            <a:r>
              <a:rPr lang="en-US" altLang="ja-JP" sz="2000" b="1" dirty="0" smtClean="0"/>
              <a:t/>
            </a:r>
            <a:br>
              <a:rPr lang="en-US" altLang="ja-JP" sz="2000" b="1" dirty="0" smtClean="0"/>
            </a:br>
            <a:r>
              <a:rPr lang="ja-JP" altLang="en-US" sz="2000" b="1" dirty="0" smtClean="0"/>
              <a:t>本当にできるならね・・・</a:t>
            </a:r>
            <a:endParaRPr lang="en-US" altLang="ja-JP" sz="2000" b="1" dirty="0"/>
          </a:p>
        </p:txBody>
      </p:sp>
      <p:pic>
        <p:nvPicPr>
          <p:cNvPr id="6146" name="Picture 2" descr="苦笑いをする女性のイラスト"/>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0275" y="5352407"/>
            <a:ext cx="1085229" cy="1233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4684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爆発 1 1"/>
          <p:cNvSpPr/>
          <p:nvPr/>
        </p:nvSpPr>
        <p:spPr>
          <a:xfrm>
            <a:off x="2771775" y="115888"/>
            <a:ext cx="3916363" cy="1441450"/>
          </a:xfrm>
          <a:prstGeom prst="irregularSeal1">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2000" b="1" dirty="0">
                <a:solidFill>
                  <a:srgbClr val="FF0000"/>
                </a:solidFill>
                <a:latin typeface="HGS創英角ﾎﾟｯﾌﾟ体" panose="040B0A00000000000000" pitchFamily="50" charset="-128"/>
                <a:ea typeface="HGS創英角ﾎﾟｯﾌﾟ体" panose="040B0A00000000000000" pitchFamily="50" charset="-128"/>
              </a:rPr>
              <a:t>作ってみよう</a:t>
            </a:r>
            <a:r>
              <a:rPr lang="en-US" altLang="ja-JP" sz="2000" b="1" dirty="0">
                <a:solidFill>
                  <a:srgbClr val="FF0000"/>
                </a:solidFill>
                <a:latin typeface="HGS創英角ﾎﾟｯﾌﾟ体" panose="040B0A00000000000000" pitchFamily="50" charset="-128"/>
                <a:ea typeface="HGS創英角ﾎﾟｯﾌﾟ体" panose="040B0A00000000000000" pitchFamily="50" charset="-128"/>
              </a:rPr>
              <a:t>!!</a:t>
            </a:r>
            <a:endParaRPr lang="ja-JP" altLang="en-US" sz="2000" b="1" dirty="0">
              <a:solidFill>
                <a:srgbClr val="FF0000"/>
              </a:solidFill>
              <a:latin typeface="HGS創英角ﾎﾟｯﾌﾟ体" panose="040B0A00000000000000" pitchFamily="50" charset="-128"/>
              <a:ea typeface="HGS創英角ﾎﾟｯﾌﾟ体" panose="040B0A00000000000000" pitchFamily="50" charset="-128"/>
            </a:endParaRPr>
          </a:p>
        </p:txBody>
      </p:sp>
      <p:sp>
        <p:nvSpPr>
          <p:cNvPr id="15" name="Text Box 5"/>
          <p:cNvSpPr txBox="1">
            <a:spLocks noChangeArrowheads="1"/>
          </p:cNvSpPr>
          <p:nvPr/>
        </p:nvSpPr>
        <p:spPr bwMode="auto">
          <a:xfrm>
            <a:off x="467544" y="2183353"/>
            <a:ext cx="8352928" cy="1485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en-US" altLang="ja-JP" sz="2263" b="1" dirty="0" smtClean="0"/>
              <a:t>Unity</a:t>
            </a:r>
            <a:r>
              <a:rPr lang="ja-JP" altLang="en-US" sz="2263" b="1" dirty="0" err="1" smtClean="0"/>
              <a:t>ちゃんの</a:t>
            </a:r>
            <a:r>
              <a:rPr lang="ja-JP" altLang="en-US" sz="2263" b="1" dirty="0" smtClean="0"/>
              <a:t>アニメーションを、ボタンを押すごとに切り替える</a:t>
            </a:r>
            <a:r>
              <a:rPr lang="en-US" altLang="ja-JP" sz="2263" b="1" dirty="0" smtClean="0"/>
              <a:t/>
            </a:r>
            <a:br>
              <a:rPr lang="en-US" altLang="ja-JP" sz="2263" b="1" dirty="0" smtClean="0"/>
            </a:br>
            <a:r>
              <a:rPr lang="ja-JP" altLang="en-US" sz="2263" b="1" dirty="0" smtClean="0"/>
              <a:t>スクリプトを作成しなさい。</a:t>
            </a:r>
            <a:r>
              <a:rPr lang="en-US" altLang="ja-JP" sz="2263" b="1" dirty="0" smtClean="0"/>
              <a:t/>
            </a:r>
            <a:br>
              <a:rPr lang="en-US" altLang="ja-JP" sz="2263" b="1" dirty="0" smtClean="0"/>
            </a:br>
            <a:r>
              <a:rPr lang="ja-JP" altLang="en-US" sz="2263" b="1" dirty="0" smtClean="0"/>
              <a:t>なお、あくまでもアニメーション遷移の練習なので</a:t>
            </a:r>
            <a:r>
              <a:rPr lang="en-US" altLang="ja-JP" sz="2263" b="1" dirty="0" smtClean="0"/>
              <a:t/>
            </a:r>
            <a:br>
              <a:rPr lang="en-US" altLang="ja-JP" sz="2263" b="1" dirty="0" smtClean="0"/>
            </a:br>
            <a:r>
              <a:rPr lang="ja-JP" altLang="en-US" sz="2263" b="1" dirty="0" smtClean="0"/>
              <a:t>全てのアニメーションを切り替える必要はない。</a:t>
            </a:r>
            <a:endParaRPr lang="ja-JP" altLang="en-US" sz="2263" b="1" dirty="0"/>
          </a:p>
        </p:txBody>
      </p:sp>
    </p:spTree>
    <p:extLst>
      <p:ext uri="{BB962C8B-B14F-4D97-AF65-F5344CB8AC3E}">
        <p14:creationId xmlns:p14="http://schemas.microsoft.com/office/powerpoint/2010/main" val="16131352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5"/>
          <p:cNvSpPr txBox="1">
            <a:spLocks noChangeArrowheads="1"/>
          </p:cNvSpPr>
          <p:nvPr/>
        </p:nvSpPr>
        <p:spPr bwMode="auto">
          <a:xfrm>
            <a:off x="180975" y="332656"/>
            <a:ext cx="774065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en-US" altLang="ja-JP" sz="2263" b="1" dirty="0" smtClean="0"/>
              <a:t>[</a:t>
            </a:r>
            <a:r>
              <a:rPr lang="ja-JP" altLang="en-US" sz="2263" b="1" dirty="0" smtClean="0"/>
              <a:t>複雑なアニメーションの管理</a:t>
            </a:r>
            <a:r>
              <a:rPr lang="en-US" altLang="ja-JP" sz="2263" b="1" dirty="0" smtClean="0"/>
              <a:t>]</a:t>
            </a:r>
            <a:endParaRPr lang="ja-JP" altLang="en-US" sz="2263" b="1" dirty="0"/>
          </a:p>
        </p:txBody>
      </p:sp>
      <p:sp>
        <p:nvSpPr>
          <p:cNvPr id="14" name="Text Box 5"/>
          <p:cNvSpPr txBox="1">
            <a:spLocks noChangeArrowheads="1"/>
          </p:cNvSpPr>
          <p:nvPr/>
        </p:nvSpPr>
        <p:spPr bwMode="auto">
          <a:xfrm>
            <a:off x="323528" y="980728"/>
            <a:ext cx="8496944"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簡単なアニメーション遷移であれば問題はないが、</a:t>
            </a:r>
            <a:r>
              <a:rPr lang="en-US" altLang="ja-JP" sz="2263" b="1" dirty="0" smtClean="0"/>
              <a:t/>
            </a:r>
            <a:br>
              <a:rPr lang="en-US" altLang="ja-JP" sz="2263" b="1" dirty="0" smtClean="0"/>
            </a:br>
            <a:r>
              <a:rPr lang="ja-JP" altLang="en-US" sz="2263" b="1" dirty="0" smtClean="0"/>
              <a:t>複雑になってくると次第にプログラムとの整合性が取れなくなったり</a:t>
            </a:r>
            <a:r>
              <a:rPr lang="en-US" altLang="ja-JP" sz="2263" b="1" dirty="0" smtClean="0"/>
              <a:t/>
            </a:r>
            <a:br>
              <a:rPr lang="en-US" altLang="ja-JP" sz="2263" b="1" dirty="0" smtClean="0"/>
            </a:br>
            <a:r>
              <a:rPr lang="ja-JP" altLang="en-US" sz="2263" b="1" dirty="0" smtClean="0"/>
              <a:t>アニメーションコントローラ内が見にくくなったりしてくる。</a:t>
            </a:r>
            <a:endParaRPr lang="ja-JP" altLang="en-US" sz="2263" b="1" dirty="0"/>
          </a:p>
        </p:txBody>
      </p:sp>
      <p:sp>
        <p:nvSpPr>
          <p:cNvPr id="15" name="角丸四角形吹き出し 13">
            <a:extLst>
              <a:ext uri="{FF2B5EF4-FFF2-40B4-BE49-F238E27FC236}">
                <a16:creationId xmlns:a16="http://schemas.microsoft.com/office/drawing/2014/main" id="{51004DFB-DA07-44DE-A8AD-9902CBC72160}"/>
              </a:ext>
            </a:extLst>
          </p:cNvPr>
          <p:cNvSpPr/>
          <p:nvPr/>
        </p:nvSpPr>
        <p:spPr>
          <a:xfrm>
            <a:off x="3707904" y="2324518"/>
            <a:ext cx="4824536" cy="975257"/>
          </a:xfrm>
          <a:prstGeom prst="wedgeRoundRectCallout">
            <a:avLst>
              <a:gd name="adj1" fmla="val -64415"/>
              <a:gd name="adj2" fmla="val 33562"/>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だったらアニメーション全てを</a:t>
            </a:r>
            <a:r>
              <a:rPr lang="en-US" altLang="ja-JP" sz="2000" b="1" dirty="0" smtClean="0"/>
              <a:t/>
            </a:r>
            <a:br>
              <a:rPr lang="en-US" altLang="ja-JP" sz="2000" b="1" dirty="0" smtClean="0"/>
            </a:br>
            <a:r>
              <a:rPr lang="ja-JP" altLang="en-US" sz="2000" b="1" dirty="0" smtClean="0"/>
              <a:t>プログラムで管理すればいいじゃない！</a:t>
            </a:r>
            <a:endParaRPr lang="en-US" altLang="ja-JP" sz="2000" b="1" dirty="0"/>
          </a:p>
        </p:txBody>
      </p:sp>
      <p:sp>
        <p:nvSpPr>
          <p:cNvPr id="8" name="Text Box 5"/>
          <p:cNvSpPr txBox="1">
            <a:spLocks noChangeArrowheads="1"/>
          </p:cNvSpPr>
          <p:nvPr/>
        </p:nvSpPr>
        <p:spPr bwMode="auto">
          <a:xfrm>
            <a:off x="323528" y="4149080"/>
            <a:ext cx="8496944"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実はスクリプトの方でもアニメーション再生をすることが出来る。</a:t>
            </a:r>
            <a:r>
              <a:rPr lang="en-US" altLang="ja-JP" sz="2263" b="1" dirty="0" smtClean="0"/>
              <a:t/>
            </a:r>
            <a:br>
              <a:rPr lang="en-US" altLang="ja-JP" sz="2263" b="1" dirty="0" smtClean="0"/>
            </a:br>
            <a:r>
              <a:rPr lang="ja-JP" altLang="en-US" sz="2263" b="1" dirty="0" smtClean="0"/>
              <a:t>試しにプログラムで状態遷移をやってみよう！</a:t>
            </a:r>
            <a:endParaRPr lang="ja-JP" altLang="en-US" sz="2263" b="1" dirty="0"/>
          </a:p>
        </p:txBody>
      </p:sp>
      <p:pic>
        <p:nvPicPr>
          <p:cNvPr id="7170" name="Picture 2" descr="マリー・アントワネットの似顔絵イラスト"/>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204864"/>
            <a:ext cx="1325215" cy="1693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29264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5"/>
          <p:cNvSpPr txBox="1">
            <a:spLocks noChangeArrowheads="1"/>
          </p:cNvSpPr>
          <p:nvPr/>
        </p:nvSpPr>
        <p:spPr bwMode="auto">
          <a:xfrm>
            <a:off x="484248" y="335938"/>
            <a:ext cx="8175322"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ただし、あくまでもアニメーションを管理しているのは</a:t>
            </a:r>
            <a:r>
              <a:rPr lang="en-US" altLang="ja-JP" sz="2263" b="1" dirty="0" smtClean="0"/>
              <a:t/>
            </a:r>
            <a:br>
              <a:rPr lang="en-US" altLang="ja-JP" sz="2263" b="1" dirty="0" smtClean="0"/>
            </a:br>
            <a:r>
              <a:rPr lang="ja-JP" altLang="en-US" sz="2263" b="1" dirty="0" smtClean="0">
                <a:solidFill>
                  <a:srgbClr val="FF66CC"/>
                </a:solidFill>
              </a:rPr>
              <a:t>アニメーションコントローラ</a:t>
            </a:r>
            <a:r>
              <a:rPr lang="ja-JP" altLang="en-US" sz="2263" b="1" dirty="0" smtClean="0"/>
              <a:t>と、それを管理している</a:t>
            </a:r>
            <a:r>
              <a:rPr lang="en-US" altLang="ja-JP" sz="2263" b="1" dirty="0" smtClean="0"/>
              <a:t/>
            </a:r>
            <a:br>
              <a:rPr lang="en-US" altLang="ja-JP" sz="2263" b="1" dirty="0" smtClean="0"/>
            </a:br>
            <a:r>
              <a:rPr lang="ja-JP" altLang="en-US" sz="2263" b="1" dirty="0" smtClean="0">
                <a:solidFill>
                  <a:srgbClr val="FF0000"/>
                </a:solidFill>
              </a:rPr>
              <a:t>アニメーターコンポーネント</a:t>
            </a:r>
            <a:r>
              <a:rPr lang="ja-JP" altLang="en-US" sz="2263" b="1" dirty="0" smtClean="0"/>
              <a:t>である点は忘れないように！</a:t>
            </a:r>
            <a:endParaRPr lang="ja-JP" altLang="en-US" sz="2263" b="1" dirty="0"/>
          </a:p>
        </p:txBody>
      </p:sp>
      <p:sp>
        <p:nvSpPr>
          <p:cNvPr id="7" name="角丸四角形吹き出し 13">
            <a:extLst>
              <a:ext uri="{FF2B5EF4-FFF2-40B4-BE49-F238E27FC236}">
                <a16:creationId xmlns:a16="http://schemas.microsoft.com/office/drawing/2014/main" id="{DF40ECAD-D28D-B18E-C6F1-DAD5D2F3F667}"/>
              </a:ext>
            </a:extLst>
          </p:cNvPr>
          <p:cNvSpPr/>
          <p:nvPr/>
        </p:nvSpPr>
        <p:spPr>
          <a:xfrm>
            <a:off x="683568" y="1681606"/>
            <a:ext cx="5336560" cy="851946"/>
          </a:xfrm>
          <a:prstGeom prst="wedgeRoundRectCallout">
            <a:avLst>
              <a:gd name="adj1" fmla="val 63460"/>
              <a:gd name="adj2" fmla="val -13897"/>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アニメーションをプログラムで再生するなら</a:t>
            </a:r>
            <a:r>
              <a:rPr lang="en-US" altLang="ja-JP" sz="2000" b="1" dirty="0" smtClean="0"/>
              <a:t/>
            </a:r>
            <a:br>
              <a:rPr lang="en-US" altLang="ja-JP" sz="2000" b="1" dirty="0" smtClean="0"/>
            </a:br>
            <a:r>
              <a:rPr lang="ja-JP" altLang="en-US" sz="2000" b="1" dirty="0" smtClean="0"/>
              <a:t>アニメーションクリップをセットしておこう！</a:t>
            </a:r>
            <a:endParaRPr lang="ja-JP" altLang="en-US" sz="2000" b="1" dirty="0"/>
          </a:p>
        </p:txBody>
      </p:sp>
      <p:sp>
        <p:nvSpPr>
          <p:cNvPr id="11" name="Text Box 5">
            <a:extLst>
              <a:ext uri="{FF2B5EF4-FFF2-40B4-BE49-F238E27FC236}">
                <a16:creationId xmlns:a16="http://schemas.microsoft.com/office/drawing/2014/main" id="{0617BA36-A37F-70AA-C2EA-1FF4B0D6298D}"/>
              </a:ext>
            </a:extLst>
          </p:cNvPr>
          <p:cNvSpPr txBox="1">
            <a:spLocks noChangeArrowheads="1"/>
          </p:cNvSpPr>
          <p:nvPr/>
        </p:nvSpPr>
        <p:spPr bwMode="auto">
          <a:xfrm>
            <a:off x="1592020" y="5676333"/>
            <a:ext cx="5959960"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上記の場合は、</a:t>
            </a:r>
            <a:r>
              <a:rPr lang="en-US" altLang="ja-JP" sz="2263" b="1" dirty="0" smtClean="0"/>
              <a:t/>
            </a:r>
            <a:br>
              <a:rPr lang="en-US" altLang="ja-JP" sz="2263" b="1" dirty="0" smtClean="0"/>
            </a:br>
            <a:r>
              <a:rPr lang="ja-JP" altLang="en-US" sz="2263" b="1" dirty="0" smtClean="0"/>
              <a:t>「</a:t>
            </a:r>
            <a:r>
              <a:rPr lang="en-US" altLang="ja-JP" sz="2263" b="1" dirty="0" smtClean="0"/>
              <a:t>WAIT00</a:t>
            </a:r>
            <a:r>
              <a:rPr lang="ja-JP" altLang="en-US" sz="2263" b="1" dirty="0" smtClean="0"/>
              <a:t>」「</a:t>
            </a:r>
            <a:r>
              <a:rPr lang="en-US" altLang="ja-JP" sz="2263" b="1" dirty="0" smtClean="0"/>
              <a:t>RUN00_F</a:t>
            </a:r>
            <a:r>
              <a:rPr lang="ja-JP" altLang="en-US" sz="2263" b="1" dirty="0" smtClean="0"/>
              <a:t>」「</a:t>
            </a:r>
            <a:r>
              <a:rPr lang="en-US" altLang="ja-JP" sz="2263" b="1" dirty="0" smtClean="0"/>
              <a:t>JUMP00</a:t>
            </a:r>
            <a:r>
              <a:rPr lang="ja-JP" altLang="en-US" sz="2263" b="1" dirty="0" smtClean="0"/>
              <a:t>」「</a:t>
            </a:r>
            <a:r>
              <a:rPr lang="en-US" altLang="ja-JP" sz="2263" b="1" dirty="0" smtClean="0"/>
              <a:t>SLIDE00</a:t>
            </a:r>
            <a:r>
              <a:rPr lang="ja-JP" altLang="en-US" sz="2263" b="1" dirty="0" smtClean="0"/>
              <a:t>」</a:t>
            </a:r>
            <a:r>
              <a:rPr lang="en-US" altLang="ja-JP" sz="2263" b="1" dirty="0" smtClean="0"/>
              <a:t/>
            </a:r>
            <a:br>
              <a:rPr lang="en-US" altLang="ja-JP" sz="2263" b="1" dirty="0" smtClean="0"/>
            </a:br>
            <a:r>
              <a:rPr lang="ja-JP" altLang="en-US" sz="2263" b="1" dirty="0" smtClean="0"/>
              <a:t>の４つが再生可能。</a:t>
            </a:r>
            <a:endParaRPr lang="ja-JP" altLang="en-US" sz="2263" b="1" dirty="0"/>
          </a:p>
        </p:txBody>
      </p:sp>
      <p:pic>
        <p:nvPicPr>
          <p:cNvPr id="2" name="図 1"/>
          <p:cNvPicPr>
            <a:picLocks noChangeAspect="1"/>
          </p:cNvPicPr>
          <p:nvPr/>
        </p:nvPicPr>
        <p:blipFill>
          <a:blip r:embed="rId3"/>
          <a:stretch>
            <a:fillRect/>
          </a:stretch>
        </p:blipFill>
        <p:spPr>
          <a:xfrm>
            <a:off x="827584" y="2924944"/>
            <a:ext cx="7239000" cy="2600325"/>
          </a:xfrm>
          <a:prstGeom prst="rect">
            <a:avLst/>
          </a:prstGeom>
        </p:spPr>
      </p:pic>
      <p:pic>
        <p:nvPicPr>
          <p:cNvPr id="8194" name="Picture 2" descr="重い荷物を運ぶ白衣の人のイラスト（男性）"/>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1365746"/>
            <a:ext cx="1242982" cy="1483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99041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5"/>
          <p:cNvSpPr txBox="1">
            <a:spLocks noChangeArrowheads="1"/>
          </p:cNvSpPr>
          <p:nvPr/>
        </p:nvSpPr>
        <p:spPr bwMode="auto">
          <a:xfrm>
            <a:off x="359532" y="188640"/>
            <a:ext cx="8424936"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プログラムの下準備は以下の二つ。</a:t>
            </a:r>
            <a:endParaRPr lang="en-US" altLang="ja-JP" sz="2263" b="1" dirty="0"/>
          </a:p>
        </p:txBody>
      </p:sp>
      <p:pic>
        <p:nvPicPr>
          <p:cNvPr id="2" name="図 1"/>
          <p:cNvPicPr>
            <a:picLocks noChangeAspect="1"/>
          </p:cNvPicPr>
          <p:nvPr/>
        </p:nvPicPr>
        <p:blipFill>
          <a:blip r:embed="rId3"/>
          <a:stretch>
            <a:fillRect/>
          </a:stretch>
        </p:blipFill>
        <p:spPr>
          <a:xfrm>
            <a:off x="395536" y="908720"/>
            <a:ext cx="4943475" cy="8763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図 2"/>
          <p:cNvPicPr>
            <a:picLocks noChangeAspect="1"/>
          </p:cNvPicPr>
          <p:nvPr/>
        </p:nvPicPr>
        <p:blipFill>
          <a:blip r:embed="rId4"/>
          <a:stretch>
            <a:fillRect/>
          </a:stretch>
        </p:blipFill>
        <p:spPr>
          <a:xfrm>
            <a:off x="357796" y="2348880"/>
            <a:ext cx="4333875" cy="10763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角丸四角形吹き出し 13">
            <a:extLst>
              <a:ext uri="{FF2B5EF4-FFF2-40B4-BE49-F238E27FC236}">
                <a16:creationId xmlns:a16="http://schemas.microsoft.com/office/drawing/2014/main" id="{DF40ECAD-D28D-B18E-C6F1-DAD5D2F3F667}"/>
              </a:ext>
            </a:extLst>
          </p:cNvPr>
          <p:cNvSpPr/>
          <p:nvPr/>
        </p:nvSpPr>
        <p:spPr>
          <a:xfrm>
            <a:off x="5724128" y="933074"/>
            <a:ext cx="2816280" cy="851946"/>
          </a:xfrm>
          <a:prstGeom prst="wedgeRoundRectCallout">
            <a:avLst>
              <a:gd name="adj1" fmla="val -121129"/>
              <a:gd name="adj2" fmla="val 20886"/>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アニメーション管理用の</a:t>
            </a:r>
            <a:r>
              <a:rPr lang="en-US" altLang="ja-JP" sz="2000" b="1" dirty="0" smtClean="0"/>
              <a:t/>
            </a:r>
            <a:br>
              <a:rPr lang="en-US" altLang="ja-JP" sz="2000" b="1" dirty="0" smtClean="0"/>
            </a:br>
            <a:r>
              <a:rPr lang="ja-JP" altLang="en-US" sz="2000" b="1" dirty="0" smtClean="0"/>
              <a:t>コンポーネント変数</a:t>
            </a:r>
            <a:endParaRPr lang="ja-JP" altLang="en-US" sz="2000" b="1" dirty="0"/>
          </a:p>
        </p:txBody>
      </p:sp>
      <p:sp>
        <p:nvSpPr>
          <p:cNvPr id="8" name="角丸四角形吹き出し 13">
            <a:extLst>
              <a:ext uri="{FF2B5EF4-FFF2-40B4-BE49-F238E27FC236}">
                <a16:creationId xmlns:a16="http://schemas.microsoft.com/office/drawing/2014/main" id="{DF40ECAD-D28D-B18E-C6F1-DAD5D2F3F667}"/>
              </a:ext>
            </a:extLst>
          </p:cNvPr>
          <p:cNvSpPr/>
          <p:nvPr/>
        </p:nvSpPr>
        <p:spPr>
          <a:xfrm>
            <a:off x="5968188" y="2348880"/>
            <a:ext cx="2816280" cy="851946"/>
          </a:xfrm>
          <a:prstGeom prst="wedgeRoundRectCallout">
            <a:avLst>
              <a:gd name="adj1" fmla="val -97680"/>
              <a:gd name="adj2" fmla="val 28836"/>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最初にデータを</a:t>
            </a:r>
            <a:r>
              <a:rPr lang="en-US" altLang="ja-JP" sz="2000" b="1" dirty="0" smtClean="0"/>
              <a:t/>
            </a:r>
            <a:br>
              <a:rPr lang="en-US" altLang="ja-JP" sz="2000" b="1" dirty="0" smtClean="0"/>
            </a:br>
            <a:r>
              <a:rPr lang="ja-JP" altLang="en-US" sz="2000" b="1" dirty="0" smtClean="0"/>
              <a:t>取得しておく</a:t>
            </a:r>
            <a:endParaRPr lang="ja-JP" altLang="en-US" sz="2000" b="1" dirty="0"/>
          </a:p>
        </p:txBody>
      </p:sp>
      <p:pic>
        <p:nvPicPr>
          <p:cNvPr id="5" name="図 4"/>
          <p:cNvPicPr>
            <a:picLocks noChangeAspect="1"/>
          </p:cNvPicPr>
          <p:nvPr/>
        </p:nvPicPr>
        <p:blipFill>
          <a:blip r:embed="rId5"/>
          <a:stretch>
            <a:fillRect/>
          </a:stretch>
        </p:blipFill>
        <p:spPr>
          <a:xfrm>
            <a:off x="611560" y="5589240"/>
            <a:ext cx="3766572" cy="7200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Text Box 5"/>
          <p:cNvSpPr txBox="1">
            <a:spLocks noChangeArrowheads="1"/>
          </p:cNvSpPr>
          <p:nvPr/>
        </p:nvSpPr>
        <p:spPr bwMode="auto">
          <a:xfrm>
            <a:off x="404168" y="3949055"/>
            <a:ext cx="8424936"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後は、適切なタイミングで</a:t>
            </a:r>
            <a:r>
              <a:rPr lang="en-US" altLang="ja-JP" sz="2263" b="1" dirty="0" smtClean="0">
                <a:solidFill>
                  <a:srgbClr val="FF0000"/>
                </a:solidFill>
              </a:rPr>
              <a:t>Play()</a:t>
            </a:r>
            <a:r>
              <a:rPr lang="ja-JP" altLang="en-US" sz="2263" b="1" dirty="0" smtClean="0"/>
              <a:t>メソッドを呼び出せば</a:t>
            </a:r>
            <a:r>
              <a:rPr lang="en-US" altLang="ja-JP" sz="2263" b="1" dirty="0" smtClean="0"/>
              <a:t/>
            </a:r>
            <a:br>
              <a:rPr lang="en-US" altLang="ja-JP" sz="2263" b="1" dirty="0" smtClean="0"/>
            </a:br>
            <a:r>
              <a:rPr lang="ja-JP" altLang="en-US" sz="2263" b="1" dirty="0" smtClean="0"/>
              <a:t>アニメーションが再生される。</a:t>
            </a:r>
            <a:r>
              <a:rPr lang="en-US" altLang="ja-JP" sz="2263" b="1" dirty="0" smtClean="0"/>
              <a:t/>
            </a:r>
            <a:br>
              <a:rPr lang="en-US" altLang="ja-JP" sz="2263" b="1" dirty="0" smtClean="0"/>
            </a:br>
            <a:r>
              <a:rPr lang="ja-JP" altLang="en-US" sz="2263" b="1" dirty="0" smtClean="0"/>
              <a:t>引数はアニメーター内で表示される名前にすること！</a:t>
            </a:r>
            <a:endParaRPr lang="en-US" altLang="ja-JP" sz="2263" b="1" dirty="0"/>
          </a:p>
        </p:txBody>
      </p:sp>
      <p:pic>
        <p:nvPicPr>
          <p:cNvPr id="6" name="図 5"/>
          <p:cNvPicPr>
            <a:picLocks noChangeAspect="1"/>
          </p:cNvPicPr>
          <p:nvPr/>
        </p:nvPicPr>
        <p:blipFill>
          <a:blip r:embed="rId6"/>
          <a:stretch>
            <a:fillRect/>
          </a:stretch>
        </p:blipFill>
        <p:spPr>
          <a:xfrm>
            <a:off x="5652120" y="5464733"/>
            <a:ext cx="2710432" cy="969093"/>
          </a:xfrm>
          <a:prstGeom prst="rect">
            <a:avLst/>
          </a:prstGeom>
        </p:spPr>
      </p:pic>
      <p:cxnSp>
        <p:nvCxnSpPr>
          <p:cNvPr id="12" name="直線矢印コネクタ 11">
            <a:extLst>
              <a:ext uri="{FF2B5EF4-FFF2-40B4-BE49-F238E27FC236}">
                <a16:creationId xmlns:a16="http://schemas.microsoft.com/office/drawing/2014/main" id="{7BEF2B0B-5005-26D1-DFB8-EF9DC3542C4A}"/>
              </a:ext>
            </a:extLst>
          </p:cNvPr>
          <p:cNvCxnSpPr>
            <a:cxnSpLocks/>
          </p:cNvCxnSpPr>
          <p:nvPr/>
        </p:nvCxnSpPr>
        <p:spPr>
          <a:xfrm flipH="1">
            <a:off x="4139952" y="5949280"/>
            <a:ext cx="2520280" cy="720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52088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5"/>
          <p:cNvSpPr txBox="1">
            <a:spLocks noChangeArrowheads="1"/>
          </p:cNvSpPr>
          <p:nvPr/>
        </p:nvSpPr>
        <p:spPr bwMode="auto">
          <a:xfrm>
            <a:off x="359532" y="188640"/>
            <a:ext cx="8424936"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現在再生中のアニメーション情報は</a:t>
            </a:r>
            <a:r>
              <a:rPr lang="en-US" altLang="ja-JP" sz="2263" b="1" dirty="0" smtClean="0"/>
              <a:t/>
            </a:r>
            <a:br>
              <a:rPr lang="en-US" altLang="ja-JP" sz="2263" b="1" dirty="0" smtClean="0"/>
            </a:br>
            <a:r>
              <a:rPr lang="en-US" altLang="ja-JP" sz="2263" b="1" dirty="0" smtClean="0"/>
              <a:t>Animator</a:t>
            </a:r>
            <a:r>
              <a:rPr lang="ja-JP" altLang="en-US" sz="2263" b="1" dirty="0" smtClean="0"/>
              <a:t>から、</a:t>
            </a:r>
            <a:r>
              <a:rPr lang="en-US" altLang="ja-JP" sz="2263" b="1" dirty="0" err="1" smtClean="0">
                <a:solidFill>
                  <a:srgbClr val="0070C0"/>
                </a:solidFill>
              </a:rPr>
              <a:t>AnimatorStateInfo</a:t>
            </a:r>
            <a:r>
              <a:rPr lang="ja-JP" altLang="en-US" sz="2263" b="1" dirty="0" smtClean="0"/>
              <a:t>というクラス情報を</a:t>
            </a:r>
            <a:r>
              <a:rPr lang="en-US" altLang="ja-JP" sz="2263" b="1" dirty="0" smtClean="0"/>
              <a:t/>
            </a:r>
            <a:br>
              <a:rPr lang="en-US" altLang="ja-JP" sz="2263" b="1" dirty="0" smtClean="0"/>
            </a:br>
            <a:r>
              <a:rPr lang="ja-JP" altLang="en-US" sz="2263" b="1" dirty="0" smtClean="0"/>
              <a:t>取り出してくれば、ある程度どうにかなる。</a:t>
            </a:r>
            <a:endParaRPr lang="en-US" altLang="ja-JP" sz="2263" b="1" dirty="0"/>
          </a:p>
        </p:txBody>
      </p:sp>
      <p:sp>
        <p:nvSpPr>
          <p:cNvPr id="10" name="Text Box 5"/>
          <p:cNvSpPr txBox="1">
            <a:spLocks noChangeArrowheads="1"/>
          </p:cNvSpPr>
          <p:nvPr/>
        </p:nvSpPr>
        <p:spPr bwMode="auto">
          <a:xfrm>
            <a:off x="404168" y="2348880"/>
            <a:ext cx="8424936" cy="788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この辺りまで理解できれば、</a:t>
            </a:r>
            <a:r>
              <a:rPr lang="en-US" altLang="ja-JP" sz="2263" b="1" dirty="0" err="1" smtClean="0"/>
              <a:t>DxLib</a:t>
            </a:r>
            <a:r>
              <a:rPr lang="ja-JP" altLang="en-US" sz="2263" b="1" dirty="0" smtClean="0"/>
              <a:t>で作成した</a:t>
            </a:r>
            <a:r>
              <a:rPr lang="en-US" altLang="ja-JP" sz="2263" b="1" dirty="0" smtClean="0"/>
              <a:t/>
            </a:r>
            <a:br>
              <a:rPr lang="en-US" altLang="ja-JP" sz="2263" b="1" dirty="0" smtClean="0"/>
            </a:br>
            <a:r>
              <a:rPr lang="ja-JP" altLang="en-US" sz="2263" b="1" dirty="0" smtClean="0"/>
              <a:t>プログラミングと同じ作り方ができてしまう！</a:t>
            </a:r>
            <a:endParaRPr lang="en-US" altLang="ja-JP" sz="2263" b="1" dirty="0"/>
          </a:p>
        </p:txBody>
      </p:sp>
      <p:pic>
        <p:nvPicPr>
          <p:cNvPr id="4" name="図 3"/>
          <p:cNvPicPr>
            <a:picLocks noChangeAspect="1"/>
          </p:cNvPicPr>
          <p:nvPr/>
        </p:nvPicPr>
        <p:blipFill>
          <a:blip r:embed="rId3"/>
          <a:stretch>
            <a:fillRect/>
          </a:stretch>
        </p:blipFill>
        <p:spPr>
          <a:xfrm>
            <a:off x="857250" y="1651273"/>
            <a:ext cx="7429500" cy="4095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図 10"/>
          <p:cNvPicPr>
            <a:picLocks noChangeAspect="1"/>
          </p:cNvPicPr>
          <p:nvPr/>
        </p:nvPicPr>
        <p:blipFill>
          <a:blip r:embed="rId4"/>
          <a:stretch>
            <a:fillRect/>
          </a:stretch>
        </p:blipFill>
        <p:spPr>
          <a:xfrm>
            <a:off x="755576" y="3212976"/>
            <a:ext cx="2952374" cy="34470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5" name="Text Box 5"/>
          <p:cNvSpPr txBox="1">
            <a:spLocks noChangeArrowheads="1"/>
          </p:cNvSpPr>
          <p:nvPr/>
        </p:nvSpPr>
        <p:spPr bwMode="auto">
          <a:xfrm>
            <a:off x="3851920" y="4221088"/>
            <a:ext cx="5184576"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en-US" altLang="ja-JP" sz="2263" b="1" dirty="0" smtClean="0"/>
              <a:t>Animator</a:t>
            </a:r>
            <a:r>
              <a:rPr lang="ja-JP" altLang="en-US" sz="2263" b="1" dirty="0" smtClean="0"/>
              <a:t>の状態遷移と</a:t>
            </a:r>
            <a:r>
              <a:rPr lang="en-US" altLang="ja-JP" sz="2263" b="1" dirty="0" smtClean="0"/>
              <a:t/>
            </a:r>
            <a:br>
              <a:rPr lang="en-US" altLang="ja-JP" sz="2263" b="1" dirty="0" smtClean="0"/>
            </a:br>
            <a:r>
              <a:rPr lang="ja-JP" altLang="en-US" sz="2263" b="1" dirty="0" smtClean="0"/>
              <a:t>プログラムの</a:t>
            </a:r>
            <a:r>
              <a:rPr lang="ja-JP" altLang="en-US" sz="2263" b="1" dirty="0" smtClean="0">
                <a:solidFill>
                  <a:srgbClr val="FF0000"/>
                </a:solidFill>
              </a:rPr>
              <a:t>ハイブリット管理</a:t>
            </a:r>
            <a:r>
              <a:rPr lang="ja-JP" altLang="en-US" sz="2263" b="1" dirty="0" smtClean="0"/>
              <a:t>なども</a:t>
            </a:r>
            <a:r>
              <a:rPr lang="en-US" altLang="ja-JP" sz="2263" b="1" dirty="0" smtClean="0"/>
              <a:t/>
            </a:r>
            <a:br>
              <a:rPr lang="en-US" altLang="ja-JP" sz="2263" b="1" dirty="0" smtClean="0"/>
            </a:br>
            <a:r>
              <a:rPr lang="ja-JP" altLang="en-US" sz="2263" b="1" dirty="0" smtClean="0"/>
              <a:t>考え方としてはアリ！</a:t>
            </a:r>
            <a:endParaRPr lang="en-US" altLang="ja-JP" sz="2263" b="1" dirty="0"/>
          </a:p>
        </p:txBody>
      </p:sp>
    </p:spTree>
    <p:extLst>
      <p:ext uri="{BB962C8B-B14F-4D97-AF65-F5344CB8AC3E}">
        <p14:creationId xmlns:p14="http://schemas.microsoft.com/office/powerpoint/2010/main" val="27095843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爆発 1 1"/>
          <p:cNvSpPr/>
          <p:nvPr/>
        </p:nvSpPr>
        <p:spPr>
          <a:xfrm>
            <a:off x="2771775" y="115888"/>
            <a:ext cx="3916363" cy="1441450"/>
          </a:xfrm>
          <a:prstGeom prst="irregularSeal1">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2000" b="1" dirty="0">
                <a:solidFill>
                  <a:srgbClr val="FF0000"/>
                </a:solidFill>
                <a:latin typeface="HGS創英角ﾎﾟｯﾌﾟ体" panose="040B0A00000000000000" pitchFamily="50" charset="-128"/>
                <a:ea typeface="HGS創英角ﾎﾟｯﾌﾟ体" panose="040B0A00000000000000" pitchFamily="50" charset="-128"/>
              </a:rPr>
              <a:t>作ってみよう</a:t>
            </a:r>
            <a:r>
              <a:rPr lang="en-US" altLang="ja-JP" sz="2000" b="1" dirty="0">
                <a:solidFill>
                  <a:srgbClr val="FF0000"/>
                </a:solidFill>
                <a:latin typeface="HGS創英角ﾎﾟｯﾌﾟ体" panose="040B0A00000000000000" pitchFamily="50" charset="-128"/>
                <a:ea typeface="HGS創英角ﾎﾟｯﾌﾟ体" panose="040B0A00000000000000" pitchFamily="50" charset="-128"/>
              </a:rPr>
              <a:t>!!</a:t>
            </a:r>
            <a:endParaRPr lang="ja-JP" altLang="en-US" sz="2000" b="1" dirty="0">
              <a:solidFill>
                <a:srgbClr val="FF0000"/>
              </a:solidFill>
              <a:latin typeface="HGS創英角ﾎﾟｯﾌﾟ体" panose="040B0A00000000000000" pitchFamily="50" charset="-128"/>
              <a:ea typeface="HGS創英角ﾎﾟｯﾌﾟ体" panose="040B0A00000000000000" pitchFamily="50" charset="-128"/>
            </a:endParaRPr>
          </a:p>
        </p:txBody>
      </p:sp>
      <p:sp>
        <p:nvSpPr>
          <p:cNvPr id="15" name="Text Box 5"/>
          <p:cNvSpPr txBox="1">
            <a:spLocks noChangeArrowheads="1"/>
          </p:cNvSpPr>
          <p:nvPr/>
        </p:nvSpPr>
        <p:spPr bwMode="auto">
          <a:xfrm>
            <a:off x="467544" y="1700808"/>
            <a:ext cx="8352928"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次のような仕様のプロジェクトを作成しなさい。</a:t>
            </a:r>
            <a:endParaRPr lang="en-US" altLang="ja-JP" sz="2263" b="1" dirty="0" smtClean="0"/>
          </a:p>
        </p:txBody>
      </p:sp>
      <p:sp>
        <p:nvSpPr>
          <p:cNvPr id="5" name="Text Box 5"/>
          <p:cNvSpPr txBox="1">
            <a:spLocks noChangeArrowheads="1"/>
          </p:cNvSpPr>
          <p:nvPr/>
        </p:nvSpPr>
        <p:spPr bwMode="auto">
          <a:xfrm>
            <a:off x="553492" y="2564904"/>
            <a:ext cx="8352928" cy="1833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eaLnBrk="1" hangingPunct="1">
              <a:spcBef>
                <a:spcPct val="50000"/>
              </a:spcBef>
              <a:defRPr/>
            </a:pPr>
            <a:r>
              <a:rPr lang="ja-JP" altLang="en-US" sz="2263" b="1" dirty="0" smtClean="0"/>
              <a:t>①カメラの位置は固定で一切動かない。</a:t>
            </a:r>
            <a:r>
              <a:rPr lang="en-US" altLang="ja-JP" sz="2263" b="1" dirty="0" smtClean="0"/>
              <a:t/>
            </a:r>
            <a:br>
              <a:rPr lang="en-US" altLang="ja-JP" sz="2263" b="1" dirty="0" smtClean="0"/>
            </a:br>
            <a:r>
              <a:rPr lang="ja-JP" altLang="en-US" sz="2263" b="1" dirty="0" smtClean="0"/>
              <a:t>②</a:t>
            </a:r>
            <a:r>
              <a:rPr lang="en-US" altLang="ja-JP" sz="2263" b="1" dirty="0" smtClean="0"/>
              <a:t>Unity</a:t>
            </a:r>
            <a:r>
              <a:rPr lang="ja-JP" altLang="en-US" sz="2263" b="1" dirty="0" err="1" smtClean="0"/>
              <a:t>ちゃんは</a:t>
            </a:r>
            <a:r>
              <a:rPr lang="ja-JP" altLang="en-US" sz="2263" b="1" dirty="0" smtClean="0"/>
              <a:t>左右に歩いて移動することが出来る。</a:t>
            </a:r>
            <a:r>
              <a:rPr lang="en-US" altLang="ja-JP" sz="2263" b="1" dirty="0" smtClean="0"/>
              <a:t/>
            </a:r>
            <a:br>
              <a:rPr lang="en-US" altLang="ja-JP" sz="2263" b="1" dirty="0" smtClean="0"/>
            </a:br>
            <a:r>
              <a:rPr lang="ja-JP" altLang="en-US" sz="2263" b="1" dirty="0" smtClean="0"/>
              <a:t>③左シフトキーを押しながら移動すると、移動速度を上げ走る。</a:t>
            </a:r>
            <a:r>
              <a:rPr lang="en-US" altLang="ja-JP" sz="2263" b="1" dirty="0" smtClean="0"/>
              <a:t/>
            </a:r>
            <a:br>
              <a:rPr lang="en-US" altLang="ja-JP" sz="2263" b="1" dirty="0" smtClean="0"/>
            </a:br>
            <a:r>
              <a:rPr lang="ja-JP" altLang="en-US" sz="2263" b="1" dirty="0"/>
              <a:t>④</a:t>
            </a:r>
            <a:r>
              <a:rPr lang="ja-JP" altLang="en-US" sz="2263" b="1" dirty="0" smtClean="0"/>
              <a:t>物体</a:t>
            </a:r>
            <a:r>
              <a:rPr lang="en-US" altLang="ja-JP" sz="2263" b="1" dirty="0" smtClean="0"/>
              <a:t>A</a:t>
            </a:r>
            <a:r>
              <a:rPr lang="ja-JP" altLang="en-US" sz="2263" b="1" dirty="0" smtClean="0"/>
              <a:t>に接触するとダウンする。</a:t>
            </a:r>
            <a:r>
              <a:rPr lang="en-US" altLang="ja-JP" sz="2263" b="1" dirty="0" smtClean="0"/>
              <a:t/>
            </a:r>
            <a:br>
              <a:rPr lang="en-US" altLang="ja-JP" sz="2263" b="1" dirty="0" smtClean="0"/>
            </a:br>
            <a:r>
              <a:rPr lang="ja-JP" altLang="en-US" sz="2263" b="1" dirty="0"/>
              <a:t>⑤</a:t>
            </a:r>
            <a:r>
              <a:rPr lang="ja-JP" altLang="en-US" sz="2263" b="1" dirty="0" smtClean="0"/>
              <a:t>物体</a:t>
            </a:r>
            <a:r>
              <a:rPr lang="en-US" altLang="ja-JP" sz="2263" b="1" dirty="0" smtClean="0"/>
              <a:t>B</a:t>
            </a:r>
            <a:r>
              <a:rPr lang="ja-JP" altLang="en-US" sz="2263" b="1" dirty="0" smtClean="0"/>
              <a:t>に接触すると勝利ポーズを行う。</a:t>
            </a:r>
            <a:endParaRPr lang="en-US" altLang="ja-JP" sz="2263" b="1" dirty="0" smtClean="0"/>
          </a:p>
        </p:txBody>
      </p:sp>
      <p:sp>
        <p:nvSpPr>
          <p:cNvPr id="6" name="Text Box 5"/>
          <p:cNvSpPr txBox="1">
            <a:spLocks noChangeArrowheads="1"/>
          </p:cNvSpPr>
          <p:nvPr/>
        </p:nvSpPr>
        <p:spPr bwMode="auto">
          <a:xfrm>
            <a:off x="395536" y="4653136"/>
            <a:ext cx="8352928"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a:t>なお</a:t>
            </a:r>
            <a:r>
              <a:rPr lang="ja-JP" altLang="en-US" sz="2263" b="1" dirty="0" smtClean="0"/>
              <a:t>、余裕がある人は上記にジャンプを加えてもよい。</a:t>
            </a:r>
            <a:r>
              <a:rPr lang="en-US" altLang="ja-JP" sz="2263" b="1" dirty="0" smtClean="0"/>
              <a:t/>
            </a:r>
            <a:br>
              <a:rPr lang="en-US" altLang="ja-JP" sz="2263" b="1" dirty="0" smtClean="0"/>
            </a:br>
            <a:r>
              <a:rPr lang="ja-JP" altLang="en-US" sz="2263" b="1" dirty="0" smtClean="0"/>
              <a:t>ジャンプモーションには少し溜めが存在するため、</a:t>
            </a:r>
            <a:r>
              <a:rPr lang="en-US" altLang="ja-JP" sz="2263" b="1" dirty="0" smtClean="0"/>
              <a:t/>
            </a:r>
            <a:br>
              <a:rPr lang="en-US" altLang="ja-JP" sz="2263" b="1" dirty="0" smtClean="0"/>
            </a:br>
            <a:r>
              <a:rPr lang="ja-JP" altLang="en-US" sz="2263" b="1" dirty="0" smtClean="0"/>
              <a:t>ジャンプはできるがアニメーションは歩き</a:t>
            </a:r>
            <a:r>
              <a:rPr lang="en-US" altLang="ja-JP" sz="2263" b="1" dirty="0" smtClean="0"/>
              <a:t>or</a:t>
            </a:r>
            <a:r>
              <a:rPr lang="ja-JP" altLang="en-US" sz="2263" b="1" dirty="0" smtClean="0"/>
              <a:t>走りのままでも</a:t>
            </a:r>
            <a:r>
              <a:rPr lang="ja-JP" altLang="en-US" sz="2263" b="1" dirty="0"/>
              <a:t>よい。</a:t>
            </a:r>
            <a:endParaRPr lang="en-US" altLang="ja-JP" sz="2263" b="1" dirty="0" smtClean="0"/>
          </a:p>
        </p:txBody>
      </p:sp>
    </p:spTree>
    <p:extLst>
      <p:ext uri="{BB962C8B-B14F-4D97-AF65-F5344CB8AC3E}">
        <p14:creationId xmlns:p14="http://schemas.microsoft.com/office/powerpoint/2010/main" val="5011244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爆発 1 1"/>
          <p:cNvSpPr/>
          <p:nvPr/>
        </p:nvSpPr>
        <p:spPr>
          <a:xfrm>
            <a:off x="2771775" y="115888"/>
            <a:ext cx="3916363" cy="1441450"/>
          </a:xfrm>
          <a:prstGeom prst="irregularSeal1">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ja-JP" altLang="en-US" sz="2000" b="1" dirty="0">
                <a:solidFill>
                  <a:srgbClr val="FF0000"/>
                </a:solidFill>
                <a:latin typeface="HGS創英角ﾎﾟｯﾌﾟ体" panose="040B0A00000000000000" pitchFamily="50" charset="-128"/>
                <a:ea typeface="HGS創英角ﾎﾟｯﾌﾟ体" panose="040B0A00000000000000" pitchFamily="50" charset="-128"/>
              </a:rPr>
              <a:t>作ってみよう</a:t>
            </a:r>
            <a:r>
              <a:rPr lang="en-US" altLang="ja-JP" sz="2000" b="1" dirty="0" smtClean="0">
                <a:solidFill>
                  <a:srgbClr val="FF0000"/>
                </a:solidFill>
                <a:latin typeface="HGS創英角ﾎﾟｯﾌﾟ体" panose="040B0A00000000000000" pitchFamily="50" charset="-128"/>
                <a:ea typeface="HGS創英角ﾎﾟｯﾌﾟ体" panose="040B0A00000000000000" pitchFamily="50" charset="-128"/>
              </a:rPr>
              <a:t>!!</a:t>
            </a:r>
            <a:br>
              <a:rPr lang="en-US" altLang="ja-JP" sz="2000" b="1" dirty="0" smtClean="0">
                <a:solidFill>
                  <a:srgbClr val="FF0000"/>
                </a:solidFill>
                <a:latin typeface="HGS創英角ﾎﾟｯﾌﾟ体" panose="040B0A00000000000000" pitchFamily="50" charset="-128"/>
                <a:ea typeface="HGS創英角ﾎﾟｯﾌﾟ体" panose="040B0A00000000000000" pitchFamily="50" charset="-128"/>
              </a:rPr>
            </a:br>
            <a:r>
              <a:rPr lang="ja-JP" altLang="en-US" sz="2000" b="1" dirty="0" smtClean="0">
                <a:solidFill>
                  <a:srgbClr val="FF0000"/>
                </a:solidFill>
                <a:latin typeface="HGS創英角ﾎﾟｯﾌﾟ体" panose="040B0A00000000000000" pitchFamily="50" charset="-128"/>
                <a:ea typeface="HGS創英角ﾎﾟｯﾌﾟ体" panose="040B0A00000000000000" pitchFamily="50" charset="-128"/>
              </a:rPr>
              <a:t>の続き</a:t>
            </a:r>
            <a:endParaRPr lang="ja-JP" altLang="en-US" sz="2000" b="1" dirty="0">
              <a:solidFill>
                <a:srgbClr val="FF0000"/>
              </a:solidFill>
              <a:latin typeface="HGS創英角ﾎﾟｯﾌﾟ体" panose="040B0A00000000000000" pitchFamily="50" charset="-128"/>
              <a:ea typeface="HGS創英角ﾎﾟｯﾌﾟ体" panose="040B0A00000000000000" pitchFamily="50" charset="-128"/>
            </a:endParaRPr>
          </a:p>
        </p:txBody>
      </p:sp>
      <p:sp>
        <p:nvSpPr>
          <p:cNvPr id="15" name="Text Box 5"/>
          <p:cNvSpPr txBox="1">
            <a:spLocks noChangeArrowheads="1"/>
          </p:cNvSpPr>
          <p:nvPr/>
        </p:nvSpPr>
        <p:spPr bwMode="auto">
          <a:xfrm>
            <a:off x="467544" y="1700808"/>
            <a:ext cx="8352928" cy="44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簡単な状態遷移は以下の通り。</a:t>
            </a:r>
            <a:endParaRPr lang="en-US" altLang="ja-JP" sz="2263" b="1" dirty="0" smtClean="0"/>
          </a:p>
        </p:txBody>
      </p:sp>
      <p:sp>
        <p:nvSpPr>
          <p:cNvPr id="3" name="角丸四角形 2"/>
          <p:cNvSpPr/>
          <p:nvPr/>
        </p:nvSpPr>
        <p:spPr>
          <a:xfrm>
            <a:off x="4067944" y="4437112"/>
            <a:ext cx="936104"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rgbClr val="FF0000"/>
                </a:solidFill>
              </a:rPr>
              <a:t>待機</a:t>
            </a:r>
            <a:endParaRPr kumimoji="1" lang="ja-JP" altLang="en-US" dirty="0">
              <a:solidFill>
                <a:srgbClr val="FF0000"/>
              </a:solidFill>
            </a:endParaRPr>
          </a:p>
        </p:txBody>
      </p:sp>
      <p:sp>
        <p:nvSpPr>
          <p:cNvPr id="7" name="角丸四角形 6"/>
          <p:cNvSpPr/>
          <p:nvPr/>
        </p:nvSpPr>
        <p:spPr>
          <a:xfrm>
            <a:off x="2865347" y="5373216"/>
            <a:ext cx="936104"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rgbClr val="FF0000"/>
                </a:solidFill>
              </a:rPr>
              <a:t>歩き</a:t>
            </a:r>
            <a:endParaRPr kumimoji="1" lang="ja-JP" altLang="en-US" dirty="0">
              <a:solidFill>
                <a:srgbClr val="FF0000"/>
              </a:solidFill>
            </a:endParaRPr>
          </a:p>
        </p:txBody>
      </p:sp>
      <p:sp>
        <p:nvSpPr>
          <p:cNvPr id="8" name="角丸四角形 7"/>
          <p:cNvSpPr/>
          <p:nvPr/>
        </p:nvSpPr>
        <p:spPr>
          <a:xfrm>
            <a:off x="5580112" y="5373216"/>
            <a:ext cx="936104"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rgbClr val="FF0000"/>
                </a:solidFill>
              </a:rPr>
              <a:t>走り</a:t>
            </a:r>
            <a:endParaRPr kumimoji="1" lang="ja-JP" altLang="en-US" dirty="0">
              <a:solidFill>
                <a:srgbClr val="FF0000"/>
              </a:solidFill>
            </a:endParaRPr>
          </a:p>
        </p:txBody>
      </p:sp>
      <p:sp>
        <p:nvSpPr>
          <p:cNvPr id="9" name="角丸四角形 8"/>
          <p:cNvSpPr/>
          <p:nvPr/>
        </p:nvSpPr>
        <p:spPr>
          <a:xfrm>
            <a:off x="4132312" y="3053488"/>
            <a:ext cx="936104"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rgbClr val="FF0000"/>
                </a:solidFill>
              </a:rPr>
              <a:t>ダウン</a:t>
            </a:r>
            <a:endParaRPr kumimoji="1" lang="ja-JP" altLang="en-US" dirty="0">
              <a:solidFill>
                <a:srgbClr val="FF0000"/>
              </a:solidFill>
            </a:endParaRPr>
          </a:p>
        </p:txBody>
      </p:sp>
      <p:sp>
        <p:nvSpPr>
          <p:cNvPr id="10" name="角丸四角形 9"/>
          <p:cNvSpPr/>
          <p:nvPr/>
        </p:nvSpPr>
        <p:spPr>
          <a:xfrm>
            <a:off x="4139952" y="3529468"/>
            <a:ext cx="936104"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rgbClr val="FF0000"/>
                </a:solidFill>
              </a:rPr>
              <a:t>勝利</a:t>
            </a:r>
            <a:endParaRPr kumimoji="1" lang="ja-JP" altLang="en-US" dirty="0">
              <a:solidFill>
                <a:srgbClr val="FF0000"/>
              </a:solidFill>
            </a:endParaRPr>
          </a:p>
        </p:txBody>
      </p:sp>
      <p:cxnSp>
        <p:nvCxnSpPr>
          <p:cNvPr id="11" name="直線矢印コネクタ 10">
            <a:extLst>
              <a:ext uri="{FF2B5EF4-FFF2-40B4-BE49-F238E27FC236}">
                <a16:creationId xmlns:a16="http://schemas.microsoft.com/office/drawing/2014/main" id="{7BEF2B0B-5005-26D1-DFB8-EF9DC3542C4A}"/>
              </a:ext>
            </a:extLst>
          </p:cNvPr>
          <p:cNvCxnSpPr>
            <a:cxnSpLocks/>
          </p:cNvCxnSpPr>
          <p:nvPr/>
        </p:nvCxnSpPr>
        <p:spPr>
          <a:xfrm flipH="1">
            <a:off x="3771445" y="4932701"/>
            <a:ext cx="482518" cy="43204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7BEF2B0B-5005-26D1-DFB8-EF9DC3542C4A}"/>
              </a:ext>
            </a:extLst>
          </p:cNvPr>
          <p:cNvCxnSpPr>
            <a:cxnSpLocks/>
          </p:cNvCxnSpPr>
          <p:nvPr/>
        </p:nvCxnSpPr>
        <p:spPr>
          <a:xfrm>
            <a:off x="3851920" y="5517232"/>
            <a:ext cx="158417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7BEF2B0B-5005-26D1-DFB8-EF9DC3542C4A}"/>
              </a:ext>
            </a:extLst>
          </p:cNvPr>
          <p:cNvCxnSpPr>
            <a:cxnSpLocks/>
          </p:cNvCxnSpPr>
          <p:nvPr/>
        </p:nvCxnSpPr>
        <p:spPr>
          <a:xfrm flipV="1">
            <a:off x="3491880" y="4869160"/>
            <a:ext cx="504056" cy="43204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7BEF2B0B-5005-26D1-DFB8-EF9DC3542C4A}"/>
              </a:ext>
            </a:extLst>
          </p:cNvPr>
          <p:cNvCxnSpPr>
            <a:cxnSpLocks/>
          </p:cNvCxnSpPr>
          <p:nvPr/>
        </p:nvCxnSpPr>
        <p:spPr>
          <a:xfrm>
            <a:off x="5076056" y="4932701"/>
            <a:ext cx="504056" cy="36402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7BEF2B0B-5005-26D1-DFB8-EF9DC3542C4A}"/>
              </a:ext>
            </a:extLst>
          </p:cNvPr>
          <p:cNvCxnSpPr>
            <a:cxnSpLocks/>
          </p:cNvCxnSpPr>
          <p:nvPr/>
        </p:nvCxnSpPr>
        <p:spPr>
          <a:xfrm flipH="1" flipV="1">
            <a:off x="5076056" y="4653137"/>
            <a:ext cx="750085" cy="6098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7BEF2B0B-5005-26D1-DFB8-EF9DC3542C4A}"/>
              </a:ext>
            </a:extLst>
          </p:cNvPr>
          <p:cNvCxnSpPr>
            <a:cxnSpLocks/>
          </p:cNvCxnSpPr>
          <p:nvPr/>
        </p:nvCxnSpPr>
        <p:spPr>
          <a:xfrm flipV="1">
            <a:off x="3141761" y="3645024"/>
            <a:ext cx="870943" cy="16010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7BEF2B0B-5005-26D1-DFB8-EF9DC3542C4A}"/>
              </a:ext>
            </a:extLst>
          </p:cNvPr>
          <p:cNvCxnSpPr>
            <a:cxnSpLocks/>
          </p:cNvCxnSpPr>
          <p:nvPr/>
        </p:nvCxnSpPr>
        <p:spPr>
          <a:xfrm flipH="1" flipV="1">
            <a:off x="5220072" y="3725554"/>
            <a:ext cx="1149094" cy="15374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7BEF2B0B-5005-26D1-DFB8-EF9DC3542C4A}"/>
              </a:ext>
            </a:extLst>
          </p:cNvPr>
          <p:cNvCxnSpPr>
            <a:cxnSpLocks/>
          </p:cNvCxnSpPr>
          <p:nvPr/>
        </p:nvCxnSpPr>
        <p:spPr>
          <a:xfrm flipH="1">
            <a:off x="3851920" y="5669716"/>
            <a:ext cx="158417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28799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354F4-E68C-AA3E-17DE-131EEBF479EC}"/>
            </a:ext>
          </a:extLst>
        </p:cNvPr>
        <p:cNvGrpSpPr/>
        <p:nvPr/>
      </p:nvGrpSpPr>
      <p:grpSpPr>
        <a:xfrm>
          <a:off x="0" y="0"/>
          <a:ext cx="0" cy="0"/>
          <a:chOff x="0" y="0"/>
          <a:chExt cx="0" cy="0"/>
        </a:xfrm>
      </p:grpSpPr>
      <p:sp>
        <p:nvSpPr>
          <p:cNvPr id="18" name="Text Box 5">
            <a:extLst>
              <a:ext uri="{FF2B5EF4-FFF2-40B4-BE49-F238E27FC236}">
                <a16:creationId xmlns:a16="http://schemas.microsoft.com/office/drawing/2014/main" id="{0139F0AE-6ACF-D03D-D5C7-7CE6E56A5F79}"/>
              </a:ext>
            </a:extLst>
          </p:cNvPr>
          <p:cNvSpPr txBox="1">
            <a:spLocks noChangeArrowheads="1"/>
          </p:cNvSpPr>
          <p:nvPr/>
        </p:nvSpPr>
        <p:spPr bwMode="auto">
          <a:xfrm>
            <a:off x="359532" y="779789"/>
            <a:ext cx="8424936"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なお、今回は横スクロールアクションを少し意識している。</a:t>
            </a:r>
            <a:r>
              <a:rPr lang="en-US" altLang="ja-JP" sz="2263" b="1" dirty="0"/>
              <a:t/>
            </a:r>
            <a:br>
              <a:rPr lang="en-US" altLang="ja-JP" sz="2263" b="1" dirty="0"/>
            </a:br>
            <a:r>
              <a:rPr lang="en-US" altLang="ja-JP" sz="2263" b="1" dirty="0" err="1"/>
              <a:t>MainCamera</a:t>
            </a:r>
            <a:r>
              <a:rPr lang="ja-JP" altLang="en-US" sz="2263" b="1" dirty="0"/>
              <a:t>のインスペクターの設定を変更すると</a:t>
            </a:r>
            <a:r>
              <a:rPr lang="en-US" altLang="ja-JP" sz="2263" b="1" dirty="0"/>
              <a:t/>
            </a:r>
            <a:br>
              <a:rPr lang="en-US" altLang="ja-JP" sz="2263" b="1" dirty="0"/>
            </a:br>
            <a:r>
              <a:rPr lang="ja-JP" altLang="en-US" sz="2263" b="1" dirty="0" smtClean="0"/>
              <a:t>より</a:t>
            </a:r>
            <a:r>
              <a:rPr lang="en-US" altLang="ja-JP" sz="2263" b="1" dirty="0" smtClean="0"/>
              <a:t>2D</a:t>
            </a:r>
            <a:r>
              <a:rPr lang="ja-JP" altLang="en-US" sz="2263" b="1" dirty="0"/>
              <a:t>ゲームのような見た目に変えることが出来る。</a:t>
            </a:r>
            <a:endParaRPr lang="en-US" altLang="ja-JP" sz="2263" b="1" dirty="0"/>
          </a:p>
        </p:txBody>
      </p:sp>
      <p:pic>
        <p:nvPicPr>
          <p:cNvPr id="4" name="図 3"/>
          <p:cNvPicPr>
            <a:picLocks noChangeAspect="1"/>
          </p:cNvPicPr>
          <p:nvPr/>
        </p:nvPicPr>
        <p:blipFill>
          <a:blip r:embed="rId3"/>
          <a:stretch>
            <a:fillRect/>
          </a:stretch>
        </p:blipFill>
        <p:spPr>
          <a:xfrm>
            <a:off x="467545" y="3450085"/>
            <a:ext cx="2952328" cy="1043680"/>
          </a:xfrm>
          <a:prstGeom prst="rect">
            <a:avLst/>
          </a:prstGeom>
        </p:spPr>
      </p:pic>
      <p:pic>
        <p:nvPicPr>
          <p:cNvPr id="6" name="図 5"/>
          <p:cNvPicPr>
            <a:picLocks noChangeAspect="1"/>
          </p:cNvPicPr>
          <p:nvPr/>
        </p:nvPicPr>
        <p:blipFill>
          <a:blip r:embed="rId4"/>
          <a:stretch>
            <a:fillRect/>
          </a:stretch>
        </p:blipFill>
        <p:spPr>
          <a:xfrm>
            <a:off x="4860032" y="3470828"/>
            <a:ext cx="4000500" cy="1076325"/>
          </a:xfrm>
          <a:prstGeom prst="rect">
            <a:avLst/>
          </a:prstGeom>
        </p:spPr>
      </p:pic>
      <p:sp>
        <p:nvSpPr>
          <p:cNvPr id="7" name="右矢印 6"/>
          <p:cNvSpPr/>
          <p:nvPr/>
        </p:nvSpPr>
        <p:spPr>
          <a:xfrm>
            <a:off x="3635896" y="4160122"/>
            <a:ext cx="1116124" cy="1043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p:nvPicPr>
        <p:blipFill>
          <a:blip r:embed="rId5"/>
          <a:stretch>
            <a:fillRect/>
          </a:stretch>
        </p:blipFill>
        <p:spPr>
          <a:xfrm>
            <a:off x="5220072" y="4726997"/>
            <a:ext cx="3332287" cy="1294291"/>
          </a:xfrm>
          <a:prstGeom prst="rect">
            <a:avLst/>
          </a:prstGeom>
        </p:spPr>
      </p:pic>
      <p:pic>
        <p:nvPicPr>
          <p:cNvPr id="9" name="図 8"/>
          <p:cNvPicPr>
            <a:picLocks noChangeAspect="1"/>
          </p:cNvPicPr>
          <p:nvPr/>
        </p:nvPicPr>
        <p:blipFill>
          <a:blip r:embed="rId6"/>
          <a:stretch>
            <a:fillRect/>
          </a:stretch>
        </p:blipFill>
        <p:spPr>
          <a:xfrm>
            <a:off x="418137" y="4681962"/>
            <a:ext cx="3001735" cy="1281061"/>
          </a:xfrm>
          <a:prstGeom prst="rect">
            <a:avLst/>
          </a:prstGeom>
        </p:spPr>
      </p:pic>
    </p:spTree>
    <p:extLst>
      <p:ext uri="{BB962C8B-B14F-4D97-AF65-F5344CB8AC3E}">
        <p14:creationId xmlns:p14="http://schemas.microsoft.com/office/powerpoint/2010/main" val="7274774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354F4-E68C-AA3E-17DE-131EEBF479EC}"/>
            </a:ext>
          </a:extLst>
        </p:cNvPr>
        <p:cNvGrpSpPr/>
        <p:nvPr/>
      </p:nvGrpSpPr>
      <p:grpSpPr>
        <a:xfrm>
          <a:off x="0" y="0"/>
          <a:ext cx="0" cy="0"/>
          <a:chOff x="0" y="0"/>
          <a:chExt cx="0" cy="0"/>
        </a:xfrm>
      </p:grpSpPr>
      <p:sp>
        <p:nvSpPr>
          <p:cNvPr id="18" name="Text Box 5">
            <a:extLst>
              <a:ext uri="{FF2B5EF4-FFF2-40B4-BE49-F238E27FC236}">
                <a16:creationId xmlns:a16="http://schemas.microsoft.com/office/drawing/2014/main" id="{0139F0AE-6ACF-D03D-D5C7-7CE6E56A5F79}"/>
              </a:ext>
            </a:extLst>
          </p:cNvPr>
          <p:cNvSpPr txBox="1">
            <a:spLocks noChangeArrowheads="1"/>
          </p:cNvSpPr>
          <p:nvPr/>
        </p:nvSpPr>
        <p:spPr bwMode="auto">
          <a:xfrm>
            <a:off x="359532" y="779789"/>
            <a:ext cx="8424936" cy="11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50000"/>
              </a:spcBef>
              <a:defRPr/>
            </a:pPr>
            <a:r>
              <a:rPr lang="ja-JP" altLang="en-US" sz="2263" b="1" dirty="0" smtClean="0"/>
              <a:t>また、プレイヤーの動作に関しては</a:t>
            </a:r>
            <a:r>
              <a:rPr lang="en-US" altLang="ja-JP" sz="2263" b="1" dirty="0" smtClean="0"/>
              <a:t/>
            </a:r>
            <a:br>
              <a:rPr lang="en-US" altLang="ja-JP" sz="2263" b="1" dirty="0" smtClean="0"/>
            </a:br>
            <a:r>
              <a:rPr lang="en-US" altLang="ja-JP" sz="2263" b="1" dirty="0" err="1" smtClean="0">
                <a:solidFill>
                  <a:srgbClr val="0070C0"/>
                </a:solidFill>
              </a:rPr>
              <a:t>RidgitBody</a:t>
            </a:r>
            <a:r>
              <a:rPr lang="ja-JP" altLang="en-US" sz="2263" b="1" dirty="0" smtClean="0"/>
              <a:t>と</a:t>
            </a:r>
            <a:r>
              <a:rPr lang="en-US" altLang="ja-JP" sz="2263" b="1" dirty="0" err="1" smtClean="0">
                <a:solidFill>
                  <a:srgbClr val="00B050"/>
                </a:solidFill>
              </a:rPr>
              <a:t>CapsuleCollider</a:t>
            </a:r>
            <a:r>
              <a:rPr lang="ja-JP" altLang="en-US" sz="2263" b="1" dirty="0" smtClean="0"/>
              <a:t>の組み合わせでもできるが、</a:t>
            </a:r>
            <a:r>
              <a:rPr lang="en-US" altLang="ja-JP" sz="2263" b="1" dirty="0" smtClean="0"/>
              <a:t/>
            </a:r>
            <a:br>
              <a:rPr lang="en-US" altLang="ja-JP" sz="2263" b="1" dirty="0" smtClean="0"/>
            </a:br>
            <a:r>
              <a:rPr lang="en-US" altLang="ja-JP" sz="2263" b="1" dirty="0" err="1" smtClean="0">
                <a:solidFill>
                  <a:srgbClr val="FF0000"/>
                </a:solidFill>
              </a:rPr>
              <a:t>CharacterController</a:t>
            </a:r>
            <a:r>
              <a:rPr lang="ja-JP" altLang="en-US" sz="2263" b="1" dirty="0" smtClean="0"/>
              <a:t>というコンポーネントを利用しても良い。</a:t>
            </a:r>
            <a:endParaRPr lang="en-US" altLang="ja-JP" sz="2263" b="1" dirty="0"/>
          </a:p>
        </p:txBody>
      </p:sp>
      <p:sp>
        <p:nvSpPr>
          <p:cNvPr id="10" name="角丸四角形吹き出し 9">
            <a:extLst>
              <a:ext uri="{FF2B5EF4-FFF2-40B4-BE49-F238E27FC236}">
                <a16:creationId xmlns:a16="http://schemas.microsoft.com/office/drawing/2014/main" id="{DF40ECAD-D28D-B18E-C6F1-DAD5D2F3F667}"/>
              </a:ext>
            </a:extLst>
          </p:cNvPr>
          <p:cNvSpPr/>
          <p:nvPr/>
        </p:nvSpPr>
        <p:spPr>
          <a:xfrm>
            <a:off x="359532" y="2564904"/>
            <a:ext cx="4617144" cy="1440160"/>
          </a:xfrm>
          <a:prstGeom prst="wedgeRoundRectCallout">
            <a:avLst>
              <a:gd name="adj1" fmla="val 22515"/>
              <a:gd name="adj2" fmla="val 90858"/>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en-US" altLang="ja-JP" sz="2000" b="1" dirty="0" err="1" smtClean="0"/>
              <a:t>CharacterController</a:t>
            </a:r>
            <a:r>
              <a:rPr lang="ja-JP" altLang="en-US" sz="2000" b="1" dirty="0" smtClean="0"/>
              <a:t>は</a:t>
            </a:r>
            <a:r>
              <a:rPr lang="en-US" altLang="ja-JP" sz="2000" b="1" dirty="0" smtClean="0"/>
              <a:t/>
            </a:r>
            <a:br>
              <a:rPr lang="en-US" altLang="ja-JP" sz="2000" b="1" dirty="0" smtClean="0"/>
            </a:br>
            <a:r>
              <a:rPr lang="en-US" altLang="ja-JP" sz="2000" b="1" dirty="0" smtClean="0"/>
              <a:t>Move</a:t>
            </a:r>
            <a:r>
              <a:rPr lang="ja-JP" altLang="en-US" sz="2000" b="1" dirty="0" smtClean="0"/>
              <a:t>というメソッドを使って</a:t>
            </a:r>
            <a:r>
              <a:rPr lang="en-US" altLang="ja-JP" sz="2000" b="1" dirty="0" smtClean="0"/>
              <a:t/>
            </a:r>
            <a:br>
              <a:rPr lang="en-US" altLang="ja-JP" sz="2000" b="1" dirty="0" smtClean="0"/>
            </a:br>
            <a:r>
              <a:rPr lang="ja-JP" altLang="en-US" sz="2000" b="1" dirty="0" smtClean="0"/>
              <a:t>移動します。</a:t>
            </a:r>
            <a:r>
              <a:rPr lang="en-US" altLang="ja-JP" sz="2000" b="1" dirty="0" smtClean="0"/>
              <a:t/>
            </a:r>
            <a:br>
              <a:rPr lang="en-US" altLang="ja-JP" sz="2000" b="1" dirty="0" smtClean="0"/>
            </a:br>
            <a:r>
              <a:rPr lang="ja-JP" altLang="en-US" sz="2000" b="1" dirty="0" smtClean="0"/>
              <a:t>物理計算を使わない移動ができます！</a:t>
            </a:r>
            <a:endParaRPr lang="ja-JP" altLang="en-US" sz="2000" b="1" dirty="0"/>
          </a:p>
        </p:txBody>
      </p:sp>
      <p:sp>
        <p:nvSpPr>
          <p:cNvPr id="11" name="角丸四角形吹き出し 10">
            <a:extLst>
              <a:ext uri="{FF2B5EF4-FFF2-40B4-BE49-F238E27FC236}">
                <a16:creationId xmlns:a16="http://schemas.microsoft.com/office/drawing/2014/main" id="{DF40ECAD-D28D-B18E-C6F1-DAD5D2F3F667}"/>
              </a:ext>
            </a:extLst>
          </p:cNvPr>
          <p:cNvSpPr/>
          <p:nvPr/>
        </p:nvSpPr>
        <p:spPr>
          <a:xfrm>
            <a:off x="5436096" y="3068960"/>
            <a:ext cx="3564396" cy="720080"/>
          </a:xfrm>
          <a:prstGeom prst="wedgeRoundRectCallout">
            <a:avLst>
              <a:gd name="adj1" fmla="val -35342"/>
              <a:gd name="adj2" fmla="val 149060"/>
              <a:gd name="adj3" fmla="val 16667"/>
            </a:avLst>
          </a:prstGeom>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000" b="1" dirty="0" smtClean="0"/>
              <a:t>その代わり、ジャンプの挙動を</a:t>
            </a:r>
            <a:r>
              <a:rPr lang="en-US" altLang="ja-JP" sz="2000" b="1" dirty="0" smtClean="0"/>
              <a:t/>
            </a:r>
            <a:br>
              <a:rPr lang="en-US" altLang="ja-JP" sz="2000" b="1" dirty="0" smtClean="0"/>
            </a:br>
            <a:r>
              <a:rPr lang="ja-JP" altLang="en-US" sz="2000" b="1" dirty="0" smtClean="0"/>
              <a:t>作るのがしんどいです・・・</a:t>
            </a:r>
            <a:endParaRPr lang="ja-JP" altLang="en-US" sz="2000" b="1" dirty="0"/>
          </a:p>
        </p:txBody>
      </p:sp>
      <p:pic>
        <p:nvPicPr>
          <p:cNvPr id="9218" name="Picture 2" descr="鏡餅を持って喜んでいる馬のイラスト（午年）"/>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4509120"/>
            <a:ext cx="2002557" cy="2170793"/>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疲れている子供のイラスト（男の子）"/>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4797152"/>
            <a:ext cx="1537358" cy="1639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301817"/>
      </p:ext>
    </p:extLst>
  </p:cSld>
  <p:clrMapOvr>
    <a:masterClrMapping/>
  </p:clrMapOvr>
  <p:timing>
    <p:tnLst>
      <p:par>
        <p:cTn id="1" dur="indefinite" restart="never" nodeType="tmRoot"/>
      </p:par>
    </p:tnLst>
  </p:timing>
</p:sld>
</file>

<file path=ppt/theme/theme1.xml><?xml version="1.0" encoding="utf-8"?>
<a:theme xmlns:a="http://schemas.openxmlformats.org/drawingml/2006/main" name="標準デザイン">
  <a:themeElements>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標準デザイン">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14937</TotalTime>
  <Words>582</Words>
  <Application>Microsoft Office PowerPoint</Application>
  <PresentationFormat>画面に合わせる (4:3)</PresentationFormat>
  <Paragraphs>100</Paragraphs>
  <Slides>23</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HGS創英角ﾎﾟｯﾌﾟ体</vt:lpstr>
      <vt:lpstr>ＭＳ Ｐゴシック</vt:lpstr>
      <vt:lpstr>Arial</vt:lpstr>
      <vt:lpstr>Calibri</vt:lpstr>
      <vt:lpstr>標準デザイン</vt:lpstr>
      <vt:lpstr>この単元の目標</vt:lpstr>
      <vt:lpstr>10　3Dモデルのアニメーション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麻生塾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初めてのプログラム</dc:title>
  <dc:creator>t_ymmt</dc:creator>
  <cp:lastModifiedBy>永末 元希</cp:lastModifiedBy>
  <cp:revision>667</cp:revision>
  <dcterms:created xsi:type="dcterms:W3CDTF">2013-04-19T02:46:48Z</dcterms:created>
  <dcterms:modified xsi:type="dcterms:W3CDTF">2025-05-13T10:57:03Z</dcterms:modified>
</cp:coreProperties>
</file>